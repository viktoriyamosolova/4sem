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343" r:id="rId2"/>
    <p:sldId id="344" r:id="rId3"/>
    <p:sldId id="401" r:id="rId4"/>
    <p:sldId id="404" r:id="rId5"/>
    <p:sldId id="407" r:id="rId6"/>
    <p:sldId id="406" r:id="rId7"/>
    <p:sldId id="474" r:id="rId8"/>
    <p:sldId id="416" r:id="rId9"/>
    <p:sldId id="403" r:id="rId10"/>
    <p:sldId id="408" r:id="rId11"/>
    <p:sldId id="412" r:id="rId12"/>
    <p:sldId id="348" r:id="rId13"/>
    <p:sldId id="453" r:id="rId14"/>
    <p:sldId id="351" r:id="rId15"/>
    <p:sldId id="352" r:id="rId16"/>
    <p:sldId id="353" r:id="rId17"/>
    <p:sldId id="454" r:id="rId18"/>
    <p:sldId id="413" r:id="rId19"/>
    <p:sldId id="354" r:id="rId20"/>
    <p:sldId id="355" r:id="rId21"/>
    <p:sldId id="356" r:id="rId22"/>
    <p:sldId id="357" r:id="rId23"/>
    <p:sldId id="358" r:id="rId24"/>
    <p:sldId id="359" r:id="rId25"/>
    <p:sldId id="360" r:id="rId26"/>
    <p:sldId id="361" r:id="rId27"/>
    <p:sldId id="362" r:id="rId28"/>
    <p:sldId id="363" r:id="rId29"/>
    <p:sldId id="364" r:id="rId30"/>
    <p:sldId id="365" r:id="rId31"/>
    <p:sldId id="366" r:id="rId32"/>
    <p:sldId id="380" r:id="rId33"/>
    <p:sldId id="367" r:id="rId34"/>
    <p:sldId id="382" r:id="rId35"/>
    <p:sldId id="381" r:id="rId36"/>
    <p:sldId id="383" r:id="rId37"/>
    <p:sldId id="390" r:id="rId38"/>
    <p:sldId id="475" r:id="rId39"/>
    <p:sldId id="370" r:id="rId40"/>
    <p:sldId id="455" r:id="rId41"/>
    <p:sldId id="371" r:id="rId42"/>
    <p:sldId id="372" r:id="rId43"/>
    <p:sldId id="373" r:id="rId44"/>
    <p:sldId id="374" r:id="rId45"/>
    <p:sldId id="375" r:id="rId46"/>
    <p:sldId id="376" r:id="rId47"/>
    <p:sldId id="377" r:id="rId48"/>
    <p:sldId id="378" r:id="rId49"/>
    <p:sldId id="379" r:id="rId50"/>
    <p:sldId id="477" r:id="rId51"/>
    <p:sldId id="448" r:id="rId52"/>
    <p:sldId id="446" r:id="rId53"/>
    <p:sldId id="449" r:id="rId54"/>
    <p:sldId id="447" r:id="rId55"/>
    <p:sldId id="476" r:id="rId56"/>
    <p:sldId id="443" r:id="rId57"/>
    <p:sldId id="445" r:id="rId58"/>
    <p:sldId id="444" r:id="rId59"/>
    <p:sldId id="450" r:id="rId60"/>
    <p:sldId id="451" r:id="rId61"/>
    <p:sldId id="452" r:id="rId62"/>
    <p:sldId id="437" r:id="rId63"/>
    <p:sldId id="422" r:id="rId64"/>
    <p:sldId id="467" r:id="rId65"/>
    <p:sldId id="468" r:id="rId66"/>
    <p:sldId id="469" r:id="rId67"/>
    <p:sldId id="470" r:id="rId68"/>
    <p:sldId id="471" r:id="rId69"/>
    <p:sldId id="472" r:id="rId70"/>
    <p:sldId id="473" r:id="rId7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0FFD1"/>
    <a:srgbClr val="D0FFB9"/>
    <a:srgbClr val="BCFF9B"/>
    <a:srgbClr val="99FF66"/>
    <a:srgbClr val="CCFF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52" autoAdjust="0"/>
    <p:restoredTop sz="95367" autoAdjust="0"/>
  </p:normalViewPr>
  <p:slideViewPr>
    <p:cSldViewPr>
      <p:cViewPr>
        <p:scale>
          <a:sx n="90" d="100"/>
          <a:sy n="90" d="100"/>
        </p:scale>
        <p:origin x="-1301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B6AA453-BCAD-4B8A-AF00-99BEC3A6F6BD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29AB0D4-F43D-43F5-A606-808CEB32976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smtClean="0"/>
          </a:p>
        </p:txBody>
      </p:sp>
      <p:sp>
        <p:nvSpPr>
          <p:cNvPr id="7373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A7E99F9-DA7A-4D9E-80BD-43221695ABEE}" type="slidenum">
              <a:rPr lang="ru-RU" smtClean="0"/>
              <a:pPr/>
              <a:t>13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866BB-546F-4DF0-B404-F6E9BB83F3BB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F5718-4717-4663-8C70-BDA4D633CD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16BCE5-EE4A-4A1C-A19D-B87D95A8A650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8845A-156D-4B1C-9C02-39729A26AE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E3FDF-028C-4A6D-8711-E4606C934496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F75A2-C1ED-41FE-AE9D-C302CBB340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EADB6-8C9F-4769-8DD6-513AE239B9E4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879B4-6591-41D3-9183-0BA4FBE7156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57342-73B8-4E92-8962-35D13C5CD937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ED296-AE4F-4D50-B8B9-B4A1469AAB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089684-63A1-4D36-BC5B-62DA67F8E4E1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C900E-4B01-4978-94FB-DEB32EDEF7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0184B0-348D-4ADD-9830-DAB58615473F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72CA4-F1D7-4C08-8A13-EAEBDADFAB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18B6A-188A-43E1-8C84-D639111A472D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8F3D5-5374-40AD-AE57-74261893EC6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CC8CC-1656-4634-A772-134070F8CB3B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D229D-4B6F-4442-A758-9ADFB9DFF8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2DEC-A4B7-4D50-AF6F-D7B2DC48CCA7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098F0-504D-4F5C-8263-FF15C6110D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5063C-1C11-4860-8106-F8304304DB9B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53A09-1962-4981-BC31-34F99E4DAA6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A760E-2F6E-4323-A020-15A584FADA44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A9899-DBB7-4B47-BD22-86E61686FA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E0FFD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614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374FDE9-836D-4A17-B9DD-E70A1CB2F621}" type="datetimeFigureOut">
              <a:rPr lang="ru-RU"/>
              <a:pPr>
                <a:defRPr/>
              </a:pPr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E58C569-0AD0-40BF-96B6-095D8B6F0F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smtClean="0"/>
              <a:t>Решение систем конечных уравнений (СКУ)</a:t>
            </a:r>
          </a:p>
        </p:txBody>
      </p:sp>
      <p:sp>
        <p:nvSpPr>
          <p:cNvPr id="7171" name="Содержимое 2"/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840288"/>
          </a:xfrm>
        </p:spPr>
        <p:txBody>
          <a:bodyPr/>
          <a:lstStyle/>
          <a:p>
            <a:pPr>
              <a:buFontTx/>
              <a:buChar char="-"/>
            </a:pPr>
            <a:r>
              <a:rPr lang="ru-RU" smtClean="0"/>
              <a:t>нахождение таких значений аргументов функций, которые обращают все конечные уравнения системы в тождества.</a:t>
            </a:r>
          </a:p>
          <a:p>
            <a:pPr lvl="1" algn="ctr">
              <a:buFont typeface="Arial" charset="0"/>
              <a:buNone/>
            </a:pPr>
            <a:r>
              <a:rPr lang="en-US" smtClean="0"/>
              <a:t>f</a:t>
            </a:r>
            <a:r>
              <a:rPr lang="en-US" baseline="-25000" smtClean="0"/>
              <a:t>1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,x</a:t>
            </a:r>
            <a:r>
              <a:rPr lang="en-US" baseline="-25000" smtClean="0"/>
              <a:t>2</a:t>
            </a:r>
            <a:r>
              <a:rPr lang="en-US" smtClean="0"/>
              <a:t>,…x</a:t>
            </a:r>
            <a:r>
              <a:rPr lang="en-US" baseline="-25000" smtClean="0"/>
              <a:t>n</a:t>
            </a:r>
            <a:r>
              <a:rPr lang="en-US" smtClean="0"/>
              <a:t>)=0</a:t>
            </a:r>
          </a:p>
          <a:p>
            <a:pPr lvl="1" algn="ctr">
              <a:buFont typeface="Arial" charset="0"/>
              <a:buNone/>
            </a:pPr>
            <a:r>
              <a:rPr lang="en-US" smtClean="0"/>
              <a:t>f</a:t>
            </a:r>
            <a:r>
              <a:rPr lang="en-US" baseline="-25000" smtClean="0"/>
              <a:t>2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,x</a:t>
            </a:r>
            <a:r>
              <a:rPr lang="en-US" baseline="-25000" smtClean="0"/>
              <a:t>2</a:t>
            </a:r>
            <a:r>
              <a:rPr lang="en-US" smtClean="0"/>
              <a:t>,…x</a:t>
            </a:r>
            <a:r>
              <a:rPr lang="en-US" baseline="-25000" smtClean="0"/>
              <a:t>n</a:t>
            </a:r>
            <a:r>
              <a:rPr lang="en-US" smtClean="0"/>
              <a:t>)=0</a:t>
            </a:r>
          </a:p>
          <a:p>
            <a:pPr lvl="1" algn="ctr">
              <a:buFont typeface="Arial" charset="0"/>
              <a:buNone/>
            </a:pPr>
            <a:r>
              <a:rPr lang="ru-RU" smtClean="0"/>
              <a:t>…………………..</a:t>
            </a:r>
            <a:endParaRPr lang="en-US" smtClean="0"/>
          </a:p>
          <a:p>
            <a:pPr lvl="1" algn="ctr">
              <a:buFont typeface="Arial" charset="0"/>
              <a:buNone/>
            </a:pPr>
            <a:r>
              <a:rPr lang="en-US" smtClean="0"/>
              <a:t>f</a:t>
            </a:r>
            <a:r>
              <a:rPr lang="en-US" baseline="-25000" smtClean="0"/>
              <a:t>m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,x</a:t>
            </a:r>
            <a:r>
              <a:rPr lang="en-US" baseline="-25000" smtClean="0"/>
              <a:t>2</a:t>
            </a:r>
            <a:r>
              <a:rPr lang="en-US" smtClean="0"/>
              <a:t>,…x</a:t>
            </a:r>
            <a:r>
              <a:rPr lang="en-US" baseline="-25000" smtClean="0"/>
              <a:t>n</a:t>
            </a:r>
            <a:r>
              <a:rPr lang="en-US" smtClean="0"/>
              <a:t>)=0</a:t>
            </a:r>
          </a:p>
          <a:p>
            <a:pPr lvl="1">
              <a:buFont typeface="Arial" charset="0"/>
              <a:buNone/>
            </a:pPr>
            <a:r>
              <a:rPr lang="ru-RU" smtClean="0"/>
              <a:t>где </a:t>
            </a:r>
            <a:r>
              <a:rPr lang="en-US" smtClean="0"/>
              <a:t>n </a:t>
            </a:r>
            <a:r>
              <a:rPr lang="ru-RU" smtClean="0"/>
              <a:t>– число неизвестных, </a:t>
            </a:r>
            <a:r>
              <a:rPr lang="en-US" smtClean="0"/>
              <a:t>m </a:t>
            </a:r>
            <a:r>
              <a:rPr lang="ru-RU" smtClean="0"/>
              <a:t>– число уравнений, </a:t>
            </a:r>
            <a:r>
              <a:rPr lang="en-US" smtClean="0"/>
              <a:t>f</a:t>
            </a:r>
            <a:r>
              <a:rPr lang="en-US" baseline="-25000" smtClean="0"/>
              <a:t>i</a:t>
            </a:r>
            <a:r>
              <a:rPr lang="en-US" smtClean="0"/>
              <a:t>(x</a:t>
            </a:r>
            <a:r>
              <a:rPr lang="en-US" baseline="-25000" smtClean="0"/>
              <a:t>1</a:t>
            </a:r>
            <a:r>
              <a:rPr lang="en-US" smtClean="0"/>
              <a:t>,x</a:t>
            </a:r>
            <a:r>
              <a:rPr lang="en-US" baseline="-25000" smtClean="0"/>
              <a:t>2</a:t>
            </a:r>
            <a:r>
              <a:rPr lang="en-US" smtClean="0"/>
              <a:t>,…x</a:t>
            </a:r>
            <a:r>
              <a:rPr lang="en-US" baseline="-25000" smtClean="0"/>
              <a:t>n</a:t>
            </a:r>
            <a:r>
              <a:rPr lang="en-US" smtClean="0"/>
              <a:t>)=0</a:t>
            </a:r>
            <a:r>
              <a:rPr lang="ru-RU" smtClean="0"/>
              <a:t> </a:t>
            </a:r>
            <a:r>
              <a:rPr lang="en-US" smtClean="0"/>
              <a:t>     i=1,…,m – </a:t>
            </a:r>
            <a:r>
              <a:rPr lang="ru-RU" smtClean="0"/>
              <a:t>линейные или нелинейные функции неизвестных аргументов, </a:t>
            </a:r>
            <a:r>
              <a:rPr lang="en-US" smtClean="0"/>
              <a:t>x</a:t>
            </a:r>
            <a:r>
              <a:rPr lang="en-US" baseline="-25000" smtClean="0"/>
              <a:t>1</a:t>
            </a:r>
            <a:r>
              <a:rPr lang="en-US" smtClean="0"/>
              <a:t>,x</a:t>
            </a:r>
            <a:r>
              <a:rPr lang="en-US" baseline="-25000" smtClean="0"/>
              <a:t>2</a:t>
            </a:r>
            <a:r>
              <a:rPr lang="en-US" smtClean="0"/>
              <a:t>,…x</a:t>
            </a:r>
            <a:r>
              <a:rPr lang="en-US" baseline="-25000" smtClean="0"/>
              <a:t>n</a:t>
            </a:r>
            <a:r>
              <a:rPr lang="ru-RU" baseline="-25000" smtClean="0"/>
              <a:t> </a:t>
            </a:r>
            <a:r>
              <a:rPr lang="ru-RU" smtClean="0"/>
              <a:t>- аргументы функций.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smtClean="0"/>
              <a:t>Если </a:t>
            </a:r>
            <a:r>
              <a:rPr lang="en-US" sz="2400" smtClean="0"/>
              <a:t>m&gt;n</a:t>
            </a:r>
            <a:r>
              <a:rPr lang="ru-RU" sz="2400" smtClean="0"/>
              <a:t>, то система называется </a:t>
            </a:r>
            <a:r>
              <a:rPr lang="ru-RU" sz="2400" b="1" smtClean="0"/>
              <a:t>переопределённой</a:t>
            </a:r>
            <a:r>
              <a:rPr lang="ru-RU" sz="2400" smtClean="0"/>
              <a:t>.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ru-RU" sz="2400" smtClean="0"/>
              <a:t>Если </a:t>
            </a:r>
            <a:r>
              <a:rPr lang="en-US" sz="2400" smtClean="0"/>
              <a:t>m&lt;n</a:t>
            </a:r>
            <a:r>
              <a:rPr lang="ru-RU" sz="2400" smtClean="0"/>
              <a:t>, то система </a:t>
            </a:r>
            <a:r>
              <a:rPr lang="ru-RU" sz="2400" b="1" smtClean="0"/>
              <a:t>недоопределена</a:t>
            </a:r>
            <a:r>
              <a:rPr lang="ru-RU" sz="2400" smtClean="0"/>
              <a:t>.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ru-RU" sz="2400" smtClean="0"/>
              <a:t>При </a:t>
            </a:r>
            <a:r>
              <a:rPr lang="en-US" sz="2400" smtClean="0"/>
              <a:t>m=n</a:t>
            </a:r>
            <a:r>
              <a:rPr lang="ru-RU" sz="2400" smtClean="0"/>
              <a:t>,  такая система называется </a:t>
            </a:r>
            <a:r>
              <a:rPr lang="ru-RU" sz="2400" b="1" smtClean="0"/>
              <a:t>нормальной</a:t>
            </a:r>
            <a:r>
              <a:rPr lang="ru-RU" sz="2400" smtClean="0"/>
              <a:t> системой уравнений. </a:t>
            </a:r>
          </a:p>
          <a:p>
            <a:pPr>
              <a:buFont typeface="Arial" charset="0"/>
              <a:buNone/>
            </a:pPr>
            <a:r>
              <a:rPr lang="ru-RU" sz="2400" smtClean="0"/>
              <a:t>СКУ можно разделить на два класса: </a:t>
            </a:r>
            <a:r>
              <a:rPr lang="ru-RU" sz="2400" b="1" smtClean="0"/>
              <a:t>линейные и нелинейные</a:t>
            </a:r>
            <a:r>
              <a:rPr lang="ru-RU" sz="2400" smtClean="0"/>
              <a:t>. </a:t>
            </a:r>
            <a:r>
              <a:rPr lang="ru-RU" sz="2400" b="1" smtClean="0"/>
              <a:t>СЛАУ</a:t>
            </a:r>
            <a:r>
              <a:rPr lang="ru-RU" sz="2400" smtClean="0"/>
              <a:t> содержат алгебраические функции с искомыми аргументами в первой степени во всех уравнениях системы.  </a:t>
            </a:r>
          </a:p>
          <a:p>
            <a:pPr>
              <a:buFont typeface="Arial" charset="0"/>
              <a:buNone/>
            </a:pPr>
            <a:r>
              <a:rPr lang="ru-RU" sz="2400" smtClean="0"/>
              <a:t>Системы нелинейных уравнений делятся на </a:t>
            </a:r>
            <a:r>
              <a:rPr lang="ru-RU" sz="2400" b="1" smtClean="0"/>
              <a:t>алгебраические </a:t>
            </a:r>
            <a:r>
              <a:rPr lang="ru-RU" sz="2400" smtClean="0"/>
              <a:t>(содержат  только алгебраические функции - многочлены </a:t>
            </a:r>
            <a:r>
              <a:rPr lang="en-US" sz="2400" smtClean="0"/>
              <a:t>n-</a:t>
            </a:r>
            <a:r>
              <a:rPr lang="ru-RU" sz="2400" smtClean="0"/>
              <a:t>ой степени с действительными коэффициентами) </a:t>
            </a:r>
            <a:r>
              <a:rPr lang="ru-RU" sz="2400" b="1" smtClean="0"/>
              <a:t>и трансцендентные </a:t>
            </a:r>
            <a:r>
              <a:rPr lang="ru-RU" sz="2400" smtClean="0"/>
              <a:t>(содержат  тригонометрические, логарифмические и др.функции, не являющиеся многочленами).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idx="1"/>
          </p:nvPr>
        </p:nvSpPr>
        <p:spPr>
          <a:xfrm>
            <a:off x="357188" y="357188"/>
            <a:ext cx="8501062" cy="6143625"/>
          </a:xfrm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ru-RU" b="1" dirty="0" smtClean="0"/>
              <a:t>Системы линейных алгебраических уравнений</a:t>
            </a:r>
          </a:p>
          <a:p>
            <a:pPr marL="0" indent="361950" algn="ctr">
              <a:buFont typeface="Arial" charset="0"/>
              <a:buNone/>
              <a:defRPr/>
            </a:pPr>
            <a:endParaRPr lang="ru-RU" b="1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Система уравнений называется </a:t>
            </a:r>
            <a:r>
              <a:rPr lang="ru-RU" sz="2400" b="1" dirty="0" smtClean="0"/>
              <a:t>совместной, </a:t>
            </a:r>
            <a:r>
              <a:rPr lang="ru-RU" sz="2400" dirty="0" smtClean="0"/>
              <a:t>если существует хотя бы одно решение этой системы, в противном случае она </a:t>
            </a:r>
            <a:r>
              <a:rPr lang="ru-RU" sz="2400" b="1" dirty="0" smtClean="0"/>
              <a:t>несовместна.</a:t>
            </a:r>
            <a:r>
              <a:rPr lang="en-US" sz="2400" dirty="0" smtClean="0"/>
              <a:t> 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СЛАУ</a:t>
            </a:r>
            <a:r>
              <a:rPr lang="en-US" sz="2400" dirty="0" smtClean="0"/>
              <a:t>  </a:t>
            </a:r>
            <a:r>
              <a:rPr lang="ru-RU" sz="2400" dirty="0" smtClean="0"/>
              <a:t> </a:t>
            </a:r>
            <a:r>
              <a:rPr lang="en-US" sz="2400" b="1" i="1" dirty="0" smtClean="0"/>
              <a:t>Au=f</a:t>
            </a:r>
            <a:r>
              <a:rPr lang="en-US" sz="2400" dirty="0" smtClean="0"/>
              <a:t>  </a:t>
            </a:r>
            <a:r>
              <a:rPr lang="ru-RU" sz="2400" dirty="0" smtClean="0"/>
              <a:t>называется </a:t>
            </a:r>
            <a:r>
              <a:rPr lang="ru-RU" sz="2400" b="1" dirty="0" smtClean="0"/>
              <a:t>неоднородной</a:t>
            </a:r>
            <a:r>
              <a:rPr lang="ru-RU" sz="2400" dirty="0" smtClean="0"/>
              <a:t>, если найдётся хотя бы один свободный член </a:t>
            </a:r>
            <a:r>
              <a:rPr lang="en-US" sz="2400" dirty="0" err="1" smtClean="0"/>
              <a:t>f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≠ 0</a:t>
            </a:r>
            <a:r>
              <a:rPr lang="ru-RU" sz="2400" dirty="0" smtClean="0"/>
              <a:t>, если все </a:t>
            </a:r>
            <a:r>
              <a:rPr lang="en-US" sz="2400" dirty="0" err="1" smtClean="0"/>
              <a:t>f</a:t>
            </a:r>
            <a:r>
              <a:rPr lang="en-US" sz="2400" baseline="-25000" dirty="0" err="1" smtClean="0"/>
              <a:t>i</a:t>
            </a:r>
            <a:r>
              <a:rPr lang="ru-RU" sz="2400" dirty="0" smtClean="0"/>
              <a:t>= 0, </a:t>
            </a:r>
            <a:r>
              <a:rPr lang="en-US" sz="2400" dirty="0" err="1" smtClean="0"/>
              <a:t>i</a:t>
            </a:r>
            <a:r>
              <a:rPr lang="en-US" sz="2400" dirty="0" smtClean="0"/>
              <a:t>=1,2,…n</a:t>
            </a:r>
            <a:r>
              <a:rPr lang="ru-RU" sz="2400" dirty="0" smtClean="0"/>
              <a:t>, то система называется </a:t>
            </a:r>
            <a:r>
              <a:rPr lang="ru-RU" sz="2400" b="1" dirty="0" smtClean="0"/>
              <a:t>однородной</a:t>
            </a:r>
            <a:r>
              <a:rPr lang="ru-RU" sz="2400" dirty="0" smtClean="0"/>
              <a:t>. Очевидно, что однородная система всегда совместна.</a:t>
            </a:r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Тривиальное (нулевое) решение однородной  СЛАУ  </a:t>
            </a:r>
            <a:r>
              <a:rPr lang="en-US" sz="2400" b="1" i="1" dirty="0" smtClean="0"/>
              <a:t>Au=0</a:t>
            </a:r>
            <a:r>
              <a:rPr lang="en-US" sz="2400" dirty="0" smtClean="0"/>
              <a:t> </a:t>
            </a:r>
            <a:r>
              <a:rPr lang="ru-RU" sz="2400" dirty="0" smtClean="0"/>
              <a:t>располагается в начале </a:t>
            </a:r>
            <a:r>
              <a:rPr lang="en-US" sz="2400" dirty="0" smtClean="0"/>
              <a:t>n</a:t>
            </a:r>
            <a:r>
              <a:rPr lang="ru-RU" sz="2400" dirty="0" smtClean="0"/>
              <a:t>-мерной системы координат:</a:t>
            </a:r>
            <a:endParaRPr lang="en-US" sz="2400" dirty="0" smtClean="0"/>
          </a:p>
          <a:p>
            <a:pPr marL="0" indent="361950" algn="ctr">
              <a:buFont typeface="Arial" charset="0"/>
              <a:buNone/>
              <a:defRPr/>
            </a:pPr>
            <a:r>
              <a:rPr lang="en-US" sz="2400" dirty="0" smtClean="0"/>
              <a:t>u*=[0, 0,…,0]</a:t>
            </a:r>
            <a:r>
              <a:rPr lang="en-US" sz="2400" baseline="30000" dirty="0" smtClean="0"/>
              <a:t>T  </a:t>
            </a:r>
            <a:endParaRPr lang="ru-RU" sz="2400" baseline="30000" dirty="0" smtClean="0"/>
          </a:p>
          <a:p>
            <a:pPr marL="0" indent="361950">
              <a:buFont typeface="Arial" charset="0"/>
              <a:buNone/>
              <a:defRPr/>
            </a:pPr>
            <a:r>
              <a:rPr lang="ru-RU" sz="2400" dirty="0" smtClean="0"/>
              <a:t>Если </a:t>
            </a:r>
            <a:r>
              <a:rPr lang="en-US" sz="2400" dirty="0" err="1" smtClean="0"/>
              <a:t>detA</a:t>
            </a:r>
            <a:r>
              <a:rPr lang="en-US" sz="2400" dirty="0" smtClean="0"/>
              <a:t>=0, </a:t>
            </a:r>
            <a:r>
              <a:rPr lang="ru-RU" sz="2400" dirty="0" smtClean="0"/>
              <a:t>то однородная СЛАУ имеет бесконечное множество решений. </a:t>
            </a:r>
          </a:p>
          <a:p>
            <a:pPr>
              <a:buFont typeface="Arial" charset="0"/>
              <a:buNone/>
              <a:defRPr/>
            </a:pPr>
            <a:endParaRPr lang="ru-RU" sz="2400" dirty="0" smtClean="0"/>
          </a:p>
          <a:p>
            <a:pPr>
              <a:buFont typeface="Arial" charset="0"/>
              <a:buNone/>
              <a:defRPr/>
            </a:pPr>
            <a:endParaRPr lang="ru-RU" sz="2400" dirty="0" smtClean="0"/>
          </a:p>
          <a:p>
            <a:pPr>
              <a:buFont typeface="Arial" charset="0"/>
              <a:buNone/>
              <a:defRPr/>
            </a:pPr>
            <a:endParaRPr lang="ru-RU" sz="2400" dirty="0" smtClean="0"/>
          </a:p>
          <a:p>
            <a:pPr>
              <a:buFont typeface="Arial" charset="0"/>
              <a:buNone/>
              <a:defRPr/>
            </a:pPr>
            <a:endParaRPr lang="en-US" sz="2400" dirty="0" smtClean="0"/>
          </a:p>
          <a:p>
            <a:pPr>
              <a:buFont typeface="Arial" charset="0"/>
              <a:buNone/>
              <a:defRPr/>
            </a:pPr>
            <a:endParaRPr lang="ru-RU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000500" y="142875"/>
            <a:ext cx="4500563" cy="6265863"/>
          </a:xfrm>
          <a:noFill/>
        </p:spPr>
      </p:pic>
      <p:sp>
        <p:nvSpPr>
          <p:cNvPr id="1028" name="Прямоугольник 4"/>
          <p:cNvSpPr>
            <a:spLocks noChangeArrowheads="1"/>
          </p:cNvSpPr>
          <p:nvPr/>
        </p:nvSpPr>
        <p:spPr bwMode="auto">
          <a:xfrm>
            <a:off x="428625" y="571500"/>
            <a:ext cx="3500438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1.  </a:t>
            </a:r>
            <a:r>
              <a:rPr lang="ru-RU" sz="2000"/>
              <a:t>Решение системы неоднородных линейных алгебраических уравнений существует и является единственным.</a:t>
            </a:r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en-US" sz="2000"/>
          </a:p>
          <a:p>
            <a:endParaRPr lang="en-US" sz="2000"/>
          </a:p>
          <a:p>
            <a:r>
              <a:rPr lang="ru-RU" sz="2000"/>
              <a:t>Решение этой системы </a:t>
            </a:r>
            <a:r>
              <a:rPr lang="en-US" sz="2000"/>
              <a:t>x</a:t>
            </a:r>
            <a:r>
              <a:rPr lang="en-US" sz="2000" baseline="-25000"/>
              <a:t>1</a:t>
            </a:r>
            <a:r>
              <a:rPr lang="en-US" sz="2000"/>
              <a:t>=1, x</a:t>
            </a:r>
            <a:r>
              <a:rPr lang="en-US" sz="2000" baseline="-25000"/>
              <a:t>2</a:t>
            </a:r>
            <a:r>
              <a:rPr lang="en-US" sz="2000"/>
              <a:t>=2</a:t>
            </a:r>
            <a:endParaRPr lang="ru-RU" sz="2000"/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1143000" y="2643188"/>
          <a:ext cx="1711325" cy="1000125"/>
        </p:xfrm>
        <a:graphic>
          <a:graphicData uri="http://schemas.openxmlformats.org/presentationml/2006/ole">
            <p:oleObj spid="_x0000_s1026" name="Формула" r:id="rId4" imgW="825480" imgH="482400" progId="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Прямоугольник 4"/>
          <p:cNvSpPr>
            <a:spLocks noChangeArrowheads="1"/>
          </p:cNvSpPr>
          <p:nvPr/>
        </p:nvSpPr>
        <p:spPr bwMode="auto">
          <a:xfrm>
            <a:off x="428625" y="857250"/>
            <a:ext cx="3500438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2. C</a:t>
            </a:r>
            <a:r>
              <a:rPr lang="ru-RU" sz="2000"/>
              <a:t>истема неоднородных линейных алгебраических уравнений вообще не имеет решения.</a:t>
            </a:r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r>
              <a:rPr lang="ru-RU" sz="2000"/>
              <a:t>Прямые параллельны и нигде не пересекаются.</a:t>
            </a:r>
            <a:endParaRPr lang="en-US" sz="200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857250" y="2500313"/>
          <a:ext cx="2001838" cy="1000125"/>
        </p:xfrm>
        <a:graphic>
          <a:graphicData uri="http://schemas.openxmlformats.org/presentationml/2006/ole">
            <p:oleObj spid="_x0000_s2050" name="Формула" r:id="rId3" imgW="965160" imgH="482400" progId="">
              <p:embed/>
            </p:oleObj>
          </a:graphicData>
        </a:graphic>
      </p:graphicFrame>
      <p:pic>
        <p:nvPicPr>
          <p:cNvPr id="205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3786188" y="785813"/>
            <a:ext cx="5003800" cy="4857750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Прямоугольник 4"/>
          <p:cNvSpPr>
            <a:spLocks noChangeArrowheads="1"/>
          </p:cNvSpPr>
          <p:nvPr/>
        </p:nvSpPr>
        <p:spPr bwMode="auto">
          <a:xfrm>
            <a:off x="428625" y="571500"/>
            <a:ext cx="3500438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/>
              <a:t>3</a:t>
            </a:r>
            <a:r>
              <a:rPr lang="en-US" sz="2000"/>
              <a:t>. </a:t>
            </a:r>
            <a:r>
              <a:rPr lang="ru-RU" sz="2000"/>
              <a:t>Система неоднородных линейных алгебраических уравнений имеет бесконечное множество решений.</a:t>
            </a:r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ru-RU" sz="2000"/>
          </a:p>
          <a:p>
            <a:endParaRPr lang="en-US" sz="2000"/>
          </a:p>
          <a:p>
            <a:endParaRPr lang="en-US" sz="2000"/>
          </a:p>
          <a:p>
            <a:r>
              <a:rPr lang="ru-RU" sz="2000"/>
              <a:t>Оба уравнения описывают одну и ту же прямую. Любая точка, лежащая на ней, является решением этой </a:t>
            </a:r>
            <a:r>
              <a:rPr lang="ru-RU" sz="2000" b="1"/>
              <a:t>вырожденной</a:t>
            </a:r>
            <a:r>
              <a:rPr lang="ru-RU" sz="2000"/>
              <a:t> системы уравнений.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998538" y="2643188"/>
          <a:ext cx="2000250" cy="1000125"/>
        </p:xfrm>
        <a:graphic>
          <a:graphicData uri="http://schemas.openxmlformats.org/presentationml/2006/ole">
            <p:oleObj spid="_x0000_s3074" name="Формула" r:id="rId3" imgW="965160" imgH="482400" progId="">
              <p:embed/>
            </p:oleObj>
          </a:graphicData>
        </a:graphic>
      </p:graphicFrame>
      <p:pic>
        <p:nvPicPr>
          <p:cNvPr id="307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071938" y="642938"/>
            <a:ext cx="4730750" cy="4357687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smtClean="0"/>
              <a:t>Методы решения СЛАУ делятся на </a:t>
            </a:r>
            <a:r>
              <a:rPr lang="ru-RU" sz="2400" b="1" smtClean="0"/>
              <a:t>прямые</a:t>
            </a:r>
            <a:endParaRPr lang="en-US" sz="2400" b="1" smtClean="0"/>
          </a:p>
          <a:p>
            <a:pPr>
              <a:buFont typeface="Arial" charset="0"/>
              <a:buNone/>
            </a:pPr>
            <a:r>
              <a:rPr lang="en-US" sz="2400" b="1" smtClean="0"/>
              <a:t>     </a:t>
            </a:r>
            <a:r>
              <a:rPr lang="ru-RU" sz="2400" smtClean="0"/>
              <a:t>(в предположении отсутствия ошибок округления позволяют получить точные решения за конечное число арифметических действий) и </a:t>
            </a:r>
            <a:r>
              <a:rPr lang="ru-RU" sz="2400" b="1" smtClean="0"/>
              <a:t>итерационные</a:t>
            </a:r>
            <a:r>
              <a:rPr lang="ru-RU" sz="2400" smtClean="0"/>
              <a:t> или методы последовательных приближений (позволяют вычислить последовательность </a:t>
            </a:r>
            <a:r>
              <a:rPr lang="en-US" sz="2400" smtClean="0"/>
              <a:t>{u</a:t>
            </a:r>
            <a:r>
              <a:rPr lang="en-US" sz="2400" baseline="-25000" smtClean="0"/>
              <a:t>k</a:t>
            </a:r>
            <a:r>
              <a:rPr lang="en-US" sz="2400" smtClean="0"/>
              <a:t>} </a:t>
            </a:r>
            <a:r>
              <a:rPr lang="ru-RU" sz="2400" smtClean="0"/>
              <a:t>, сходящуюся к решению задачи при </a:t>
            </a:r>
            <a:r>
              <a:rPr lang="en-US" sz="2400" smtClean="0"/>
              <a:t>k→∞</a:t>
            </a:r>
            <a:r>
              <a:rPr lang="ru-RU" sz="2400" smtClean="0"/>
              <a:t>.  </a:t>
            </a:r>
          </a:p>
          <a:p>
            <a:pPr>
              <a:buFont typeface="Arial" charset="0"/>
              <a:buNone/>
            </a:pPr>
            <a:r>
              <a:rPr lang="ru-RU" sz="2400" smtClean="0"/>
              <a:t>На практике ограничиваются конечным</a:t>
            </a:r>
            <a:r>
              <a:rPr lang="en-US" sz="2400" smtClean="0"/>
              <a:t> k</a:t>
            </a:r>
            <a:r>
              <a:rPr lang="ru-RU" sz="2400" smtClean="0"/>
              <a:t> в зависимости от требуемой точности. Однако неточность задания правых частей и элементов матрицы коэффициентов А может приводить к значительным погрешностям при вычислении решения СЛАУ.</a:t>
            </a:r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Содержимое 2"/>
          <p:cNvSpPr>
            <a:spLocks noGrp="1"/>
          </p:cNvSpPr>
          <p:nvPr>
            <p:ph idx="1"/>
          </p:nvPr>
        </p:nvSpPr>
        <p:spPr>
          <a:xfrm>
            <a:off x="457200" y="1928813"/>
            <a:ext cx="8229600" cy="1857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mtClean="0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71625"/>
            <a:ext cx="9144000" cy="264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8888" y="2133600"/>
            <a:ext cx="434975" cy="16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40650" y="2217738"/>
            <a:ext cx="215900" cy="8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538" y="2565400"/>
            <a:ext cx="250825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idx="1"/>
          </p:nvPr>
        </p:nvSpPr>
        <p:spPr>
          <a:xfrm>
            <a:off x="457200" y="285750"/>
            <a:ext cx="8229600" cy="571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000" b="1" smtClean="0"/>
              <a:t>Рассмотрим СЛАУ вида   </a:t>
            </a:r>
            <a:r>
              <a:rPr lang="en-US" sz="2400" b="1" i="1" smtClean="0"/>
              <a:t>Au = f                                               </a:t>
            </a:r>
            <a:r>
              <a:rPr lang="en-US" sz="2000" smtClean="0"/>
              <a:t>(2.1)</a:t>
            </a:r>
            <a:endParaRPr lang="ru-RU" sz="20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12291" name="Рисунок 2" descr="14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857250"/>
            <a:ext cx="7858125" cy="535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Заголовок 1"/>
          <p:cNvSpPr txBox="1">
            <a:spLocks/>
          </p:cNvSpPr>
          <p:nvPr/>
        </p:nvSpPr>
        <p:spPr bwMode="auto">
          <a:xfrm>
            <a:off x="357188" y="6143625"/>
            <a:ext cx="7858125" cy="4286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defRPr/>
            </a:pPr>
            <a:r>
              <a:rPr lang="ru-RU" sz="2000" b="1" dirty="0">
                <a:latin typeface="+mn-lt"/>
              </a:rPr>
              <a:t>данным затратам машинного времени</a:t>
            </a:r>
            <a:r>
              <a:rPr lang="en-US" sz="2000" b="1" dirty="0">
                <a:latin typeface="+mn-lt"/>
              </a:rPr>
              <a:t>.</a:t>
            </a:r>
            <a:r>
              <a:rPr lang="ru-RU" sz="2000" b="1" dirty="0"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200" smtClean="0"/>
              <a:t>Если использовать наиболее оптимальный способ расчёта определителя, то для решения СЛАУ методом Крамера потребуется примерно              арифметических операций.</a:t>
            </a:r>
            <a:endParaRPr lang="en-US" sz="2200" smtClean="0"/>
          </a:p>
          <a:p>
            <a:pPr>
              <a:buFont typeface="Arial" charset="0"/>
              <a:buNone/>
            </a:pPr>
            <a:endParaRPr lang="ru-RU" sz="2200" smtClean="0"/>
          </a:p>
          <a:p>
            <a:pPr>
              <a:buFont typeface="Arial" charset="0"/>
              <a:buNone/>
            </a:pPr>
            <a:r>
              <a:rPr lang="ru-RU" sz="2200" smtClean="0"/>
              <a:t>Для сравнения матриц используются такие их характеристики, как определитель, ранг, матричные нормы. </a:t>
            </a:r>
          </a:p>
          <a:p>
            <a:pPr>
              <a:buFont typeface="Arial" charset="0"/>
              <a:buNone/>
            </a:pPr>
            <a:r>
              <a:rPr lang="ru-RU" sz="2200" b="1" smtClean="0"/>
              <a:t>Норма вектора и норма матрицы </a:t>
            </a:r>
            <a:r>
              <a:rPr lang="ru-RU" sz="2200" smtClean="0"/>
              <a:t>– это некоторые скалярные числовые характеристики, которые ставят в соответствие вектору и матрице.</a:t>
            </a:r>
          </a:p>
          <a:p>
            <a:pPr>
              <a:buFont typeface="Arial" charset="0"/>
              <a:buNone/>
            </a:pPr>
            <a:r>
              <a:rPr lang="ru-RU" sz="2200" b="1" i="1" smtClean="0"/>
              <a:t>Нормой вектора </a:t>
            </a:r>
            <a:r>
              <a:rPr lang="en-US" sz="2200" b="1" i="1" smtClean="0"/>
              <a:t>u</a:t>
            </a:r>
            <a:r>
              <a:rPr lang="ru-RU" sz="2200" b="1" i="1" smtClean="0"/>
              <a:t> = (</a:t>
            </a:r>
            <a:r>
              <a:rPr lang="en-US" sz="2200" b="1" i="1" smtClean="0"/>
              <a:t>u</a:t>
            </a:r>
            <a:r>
              <a:rPr lang="ru-RU" sz="2200" b="1" i="1" baseline="-25000" smtClean="0"/>
              <a:t>1</a:t>
            </a:r>
            <a:r>
              <a:rPr lang="ru-RU" sz="2200" b="1" i="1" smtClean="0"/>
              <a:t>, </a:t>
            </a:r>
            <a:r>
              <a:rPr lang="en-US" sz="2200" b="1" i="1" smtClean="0"/>
              <a:t>u</a:t>
            </a:r>
            <a:r>
              <a:rPr lang="ru-RU" sz="2200" b="1" i="1" baseline="-25000" smtClean="0"/>
              <a:t>2</a:t>
            </a:r>
            <a:r>
              <a:rPr lang="ru-RU" sz="2200" b="1" i="1" smtClean="0"/>
              <a:t>, …</a:t>
            </a:r>
            <a:r>
              <a:rPr lang="en-US" sz="2200" b="1" i="1" smtClean="0"/>
              <a:t>u</a:t>
            </a:r>
            <a:r>
              <a:rPr lang="en-US" sz="2200" b="1" i="1" baseline="-25000" smtClean="0"/>
              <a:t>n</a:t>
            </a:r>
            <a:r>
              <a:rPr lang="ru-RU" sz="2200" b="1" i="1" smtClean="0"/>
              <a:t>)</a:t>
            </a:r>
            <a:r>
              <a:rPr lang="en-US" sz="2200" b="1" i="1" baseline="30000" smtClean="0"/>
              <a:t>T</a:t>
            </a:r>
            <a:r>
              <a:rPr lang="en-US" sz="2200" smtClean="0"/>
              <a:t>  </a:t>
            </a:r>
            <a:r>
              <a:rPr lang="ru-RU" sz="2200" smtClean="0"/>
              <a:t>(обозначают ║</a:t>
            </a:r>
            <a:r>
              <a:rPr lang="en-US" sz="2200" smtClean="0"/>
              <a:t>u</a:t>
            </a:r>
            <a:r>
              <a:rPr lang="ru-RU" sz="2200" smtClean="0"/>
              <a:t>║)   в  </a:t>
            </a:r>
            <a:r>
              <a:rPr lang="en-US" sz="2200" i="1" smtClean="0"/>
              <a:t>n</a:t>
            </a:r>
            <a:r>
              <a:rPr lang="ru-RU" sz="2200" smtClean="0"/>
              <a:t>-мерном вещественном пространстве векторов</a:t>
            </a:r>
            <a:r>
              <a:rPr lang="ru-RU" sz="2200" i="1" smtClean="0"/>
              <a:t> </a:t>
            </a:r>
            <a:r>
              <a:rPr lang="ru-RU" sz="2200" smtClean="0"/>
              <a:t>называют неотрицательное число, вычисляемое с помощью компонент вектора и обладающее следующими свойствами:</a:t>
            </a:r>
          </a:p>
          <a:p>
            <a:pPr>
              <a:buFont typeface="Arial" charset="0"/>
              <a:buNone/>
            </a:pPr>
            <a:r>
              <a:rPr lang="ru-RU" sz="2200" smtClean="0"/>
              <a:t>а) ║</a:t>
            </a:r>
            <a:r>
              <a:rPr lang="en-US" sz="2200" smtClean="0"/>
              <a:t>u</a:t>
            </a:r>
            <a:r>
              <a:rPr lang="ru-RU" sz="2200" smtClean="0"/>
              <a:t>║ ≥ </a:t>
            </a:r>
            <a:r>
              <a:rPr lang="en-US" sz="2200" smtClean="0"/>
              <a:t>0 </a:t>
            </a:r>
            <a:r>
              <a:rPr lang="ru-RU" sz="2200" smtClean="0"/>
              <a:t>(║</a:t>
            </a:r>
            <a:r>
              <a:rPr lang="en-US" sz="2200" smtClean="0"/>
              <a:t>u</a:t>
            </a:r>
            <a:r>
              <a:rPr lang="ru-RU" sz="2200" smtClean="0"/>
              <a:t>║=0 тогда и только тогда, когда </a:t>
            </a:r>
            <a:r>
              <a:rPr lang="en-US" sz="2200" smtClean="0"/>
              <a:t>u</a:t>
            </a:r>
            <a:r>
              <a:rPr lang="ru-RU" sz="2200" i="1" smtClean="0"/>
              <a:t> </a:t>
            </a:r>
            <a:r>
              <a:rPr lang="ru-RU" sz="2200" smtClean="0"/>
              <a:t>– нулевой вектор);</a:t>
            </a:r>
          </a:p>
          <a:p>
            <a:pPr>
              <a:buFont typeface="Arial" charset="0"/>
              <a:buNone/>
            </a:pPr>
            <a:r>
              <a:rPr lang="ru-RU" sz="2200" smtClean="0"/>
              <a:t>б) ║α ∙ </a:t>
            </a:r>
            <a:r>
              <a:rPr lang="en-US" sz="2200" smtClean="0"/>
              <a:t>u</a:t>
            </a:r>
            <a:r>
              <a:rPr lang="ru-RU" sz="2200" smtClean="0"/>
              <a:t>║ = </a:t>
            </a:r>
            <a:r>
              <a:rPr lang="ru-RU" sz="2200" b="1" smtClean="0"/>
              <a:t>|</a:t>
            </a:r>
            <a:r>
              <a:rPr lang="en-US" sz="2200" smtClean="0"/>
              <a:t>α</a:t>
            </a:r>
            <a:r>
              <a:rPr lang="ru-RU" sz="2200" b="1" smtClean="0"/>
              <a:t>|</a:t>
            </a:r>
            <a:r>
              <a:rPr lang="ru-RU" sz="2200" smtClean="0"/>
              <a:t> ∙ ║</a:t>
            </a:r>
            <a:r>
              <a:rPr lang="en-US" sz="2200" smtClean="0"/>
              <a:t>u</a:t>
            </a:r>
            <a:r>
              <a:rPr lang="ru-RU" sz="2200" smtClean="0"/>
              <a:t>║ для любых чисел </a:t>
            </a:r>
            <a:r>
              <a:rPr lang="en-US" sz="2200" smtClean="0"/>
              <a:t>α</a:t>
            </a:r>
            <a:r>
              <a:rPr lang="ru-RU" sz="2200" smtClean="0"/>
              <a:t> (действительных или комплексных);</a:t>
            </a:r>
          </a:p>
          <a:p>
            <a:pPr>
              <a:buFont typeface="Arial" charset="0"/>
              <a:buNone/>
            </a:pPr>
            <a:r>
              <a:rPr lang="ru-RU" sz="2200" smtClean="0"/>
              <a:t>в) ║</a:t>
            </a:r>
            <a:r>
              <a:rPr lang="en-US" sz="2200" smtClean="0"/>
              <a:t>u</a:t>
            </a:r>
            <a:r>
              <a:rPr lang="ru-RU" sz="2200" i="1" smtClean="0"/>
              <a:t>+</a:t>
            </a:r>
            <a:r>
              <a:rPr lang="en-US" sz="2200" i="1" smtClean="0"/>
              <a:t>y</a:t>
            </a:r>
            <a:r>
              <a:rPr lang="ru-RU" sz="2200" smtClean="0"/>
              <a:t>║≤ ║</a:t>
            </a:r>
            <a:r>
              <a:rPr lang="en-US" sz="2200" smtClean="0"/>
              <a:t>u</a:t>
            </a:r>
            <a:r>
              <a:rPr lang="ru-RU" sz="2200" smtClean="0"/>
              <a:t>║ </a:t>
            </a:r>
            <a:r>
              <a:rPr lang="en-US" sz="2200" smtClean="0"/>
              <a:t>+</a:t>
            </a:r>
            <a:r>
              <a:rPr lang="ru-RU" sz="2200" baseline="-25000" smtClean="0"/>
              <a:t> </a:t>
            </a:r>
            <a:r>
              <a:rPr lang="ru-RU" sz="2200" smtClean="0"/>
              <a:t>║</a:t>
            </a:r>
            <a:r>
              <a:rPr lang="en-US" sz="2200" i="1" smtClean="0"/>
              <a:t>y</a:t>
            </a:r>
            <a:r>
              <a:rPr lang="ru-RU" sz="2200" smtClean="0"/>
              <a:t>║.</a:t>
            </a:r>
            <a:endParaRPr lang="en-US" sz="22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/>
        </p:nvGraphicFramePr>
        <p:xfrm>
          <a:off x="3779838" y="908050"/>
          <a:ext cx="611187" cy="576263"/>
        </p:xfrm>
        <a:graphic>
          <a:graphicData uri="http://schemas.openxmlformats.org/presentationml/2006/ole">
            <p:oleObj spid="_x0000_s4098" name="Equation" r:id="rId3" imgW="291960" imgH="3934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type="body" idx="1"/>
          </p:nvPr>
        </p:nvSpPr>
        <p:spPr>
          <a:xfrm>
            <a:off x="250825" y="214313"/>
            <a:ext cx="8642350" cy="64293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200" b="1" i="1" smtClean="0"/>
              <a:t>Нормой матрицы А</a:t>
            </a:r>
            <a:r>
              <a:rPr lang="en-US" sz="2200" b="1" i="1" baseline="-25000" smtClean="0"/>
              <a:t>n</a:t>
            </a:r>
            <a:r>
              <a:rPr lang="en-US" sz="2200" b="1" i="1" baseline="-25000" smtClean="0">
                <a:sym typeface="Symbol" pitchFamily="18" charset="2"/>
              </a:rPr>
              <a:t>n </a:t>
            </a:r>
            <a:r>
              <a:rPr lang="en-US" sz="2200" b="1" i="1" smtClean="0">
                <a:sym typeface="Symbol" pitchFamily="18" charset="2"/>
              </a:rPr>
              <a:t> </a:t>
            </a:r>
            <a:r>
              <a:rPr lang="en-US" sz="2200" smtClean="0">
                <a:sym typeface="Symbol" pitchFamily="18" charset="2"/>
              </a:rPr>
              <a:t>(</a:t>
            </a:r>
            <a:r>
              <a:rPr lang="ru-RU" sz="2200" smtClean="0">
                <a:sym typeface="Symbol" pitchFamily="18" charset="2"/>
              </a:rPr>
              <a:t>обозначается </a:t>
            </a:r>
            <a:r>
              <a:rPr lang="ru-RU" sz="2200" smtClean="0"/>
              <a:t>║А║) с вещественными элементами в пространстве матриц называют неотрицательное число, вычисляемое с помощью элементов матрицы и обладающее следующими свойствами:</a:t>
            </a:r>
          </a:p>
          <a:p>
            <a:pPr>
              <a:buFont typeface="Arial" charset="0"/>
              <a:buNone/>
            </a:pPr>
            <a:r>
              <a:rPr lang="ru-RU" sz="2200" smtClean="0"/>
              <a:t>а) ║А║ </a:t>
            </a:r>
            <a:r>
              <a:rPr lang="en-US" sz="2200" smtClean="0"/>
              <a:t>&gt;</a:t>
            </a:r>
            <a:r>
              <a:rPr lang="ru-RU" sz="2200" smtClean="0"/>
              <a:t> </a:t>
            </a:r>
            <a:r>
              <a:rPr lang="en-US" sz="2200" smtClean="0"/>
              <a:t>0 </a:t>
            </a:r>
            <a:r>
              <a:rPr lang="ru-RU" sz="2200" smtClean="0"/>
              <a:t>(║</a:t>
            </a:r>
            <a:r>
              <a:rPr lang="en-US" sz="2200" smtClean="0"/>
              <a:t>A</a:t>
            </a:r>
            <a:r>
              <a:rPr lang="ru-RU" sz="2200" smtClean="0"/>
              <a:t>║=0 тогда и только тогда, когда </a:t>
            </a:r>
            <a:r>
              <a:rPr lang="en-US" sz="2200" smtClean="0"/>
              <a:t>A</a:t>
            </a:r>
            <a:r>
              <a:rPr lang="ru-RU" sz="2200" i="1" smtClean="0"/>
              <a:t> </a:t>
            </a:r>
            <a:r>
              <a:rPr lang="ru-RU" sz="2200" smtClean="0"/>
              <a:t>– нулевая матрица);</a:t>
            </a:r>
          </a:p>
          <a:p>
            <a:pPr>
              <a:buFont typeface="Arial" charset="0"/>
              <a:buNone/>
            </a:pPr>
            <a:r>
              <a:rPr lang="ru-RU" sz="2200" smtClean="0"/>
              <a:t>б) ║α ∙ А║ = </a:t>
            </a:r>
            <a:r>
              <a:rPr lang="ru-RU" sz="2200" b="1" smtClean="0"/>
              <a:t>|</a:t>
            </a:r>
            <a:r>
              <a:rPr lang="en-US" sz="2200" smtClean="0"/>
              <a:t>α</a:t>
            </a:r>
            <a:r>
              <a:rPr lang="ru-RU" sz="2200" b="1" smtClean="0"/>
              <a:t>|</a:t>
            </a:r>
            <a:r>
              <a:rPr lang="ru-RU" sz="2200" smtClean="0"/>
              <a:t> ∙ ║А║ для любых чисел </a:t>
            </a:r>
            <a:r>
              <a:rPr lang="en-US" sz="2200" smtClean="0"/>
              <a:t>α</a:t>
            </a:r>
            <a:r>
              <a:rPr lang="ru-RU" sz="2200" smtClean="0"/>
              <a:t> (действительных или комплексных);</a:t>
            </a:r>
          </a:p>
          <a:p>
            <a:pPr>
              <a:buFont typeface="Arial" charset="0"/>
              <a:buNone/>
            </a:pPr>
            <a:r>
              <a:rPr lang="ru-RU" sz="2200" smtClean="0"/>
              <a:t>в) ║А+В║≤ ║А║ </a:t>
            </a:r>
            <a:r>
              <a:rPr lang="en-US" sz="2200" smtClean="0"/>
              <a:t>+</a:t>
            </a:r>
            <a:r>
              <a:rPr lang="ru-RU" sz="2200" baseline="-25000" smtClean="0"/>
              <a:t> </a:t>
            </a:r>
            <a:r>
              <a:rPr lang="ru-RU" sz="2200" smtClean="0"/>
              <a:t>║В║;</a:t>
            </a:r>
            <a:endParaRPr lang="en-US" sz="2200" smtClean="0"/>
          </a:p>
          <a:p>
            <a:pPr>
              <a:buFont typeface="Arial" charset="0"/>
              <a:buNone/>
            </a:pPr>
            <a:r>
              <a:rPr lang="ru-RU" sz="2200" smtClean="0"/>
              <a:t>г) ║А</a:t>
            </a:r>
            <a:r>
              <a:rPr lang="ru-RU" sz="2200" i="1" smtClean="0"/>
              <a:t>∙</a:t>
            </a:r>
            <a:r>
              <a:rPr lang="ru-RU" sz="2200" smtClean="0"/>
              <a:t>В║≤ ║А║ ∙</a:t>
            </a:r>
            <a:r>
              <a:rPr lang="ru-RU" sz="2200" baseline="-25000" smtClean="0"/>
              <a:t> </a:t>
            </a:r>
            <a:r>
              <a:rPr lang="ru-RU" sz="2200" smtClean="0"/>
              <a:t>║В║ для всех </a:t>
            </a:r>
            <a:r>
              <a:rPr lang="en-US" sz="2200" smtClean="0"/>
              <a:t>n x n</a:t>
            </a:r>
            <a:r>
              <a:rPr lang="ru-RU" sz="2200" smtClean="0"/>
              <a:t> матриц </a:t>
            </a:r>
            <a:r>
              <a:rPr lang="en-US" sz="2200" smtClean="0"/>
              <a:t> </a:t>
            </a:r>
            <a:r>
              <a:rPr lang="ru-RU" sz="2200" smtClean="0"/>
              <a:t>А</a:t>
            </a:r>
            <a:r>
              <a:rPr lang="en-US" sz="2200" smtClean="0"/>
              <a:t> </a:t>
            </a:r>
            <a:r>
              <a:rPr lang="ru-RU" sz="2200" smtClean="0"/>
              <a:t> и В рассматриваемого пространства.</a:t>
            </a:r>
          </a:p>
          <a:p>
            <a:pPr>
              <a:buFont typeface="Arial" charset="0"/>
              <a:buNone/>
            </a:pPr>
            <a:r>
              <a:rPr lang="ru-RU" sz="2400" smtClean="0"/>
              <a:t>Как видно из определения норм векторов и матриц (определения аналогичны, за исключением последнего свойства нормы матрицы), норма матрицы должна быть согласована с нормой векторов. Это согласование осуществляется следующей связью</a:t>
            </a:r>
          </a:p>
          <a:p>
            <a:pPr algn="ctr">
              <a:buFont typeface="Arial" charset="0"/>
              <a:buNone/>
            </a:pPr>
            <a:r>
              <a:rPr lang="ru-RU" sz="2400" smtClean="0"/>
              <a:t>║А</a:t>
            </a:r>
            <a:r>
              <a:rPr lang="ru-RU" sz="2400" i="1" smtClean="0"/>
              <a:t>∙</a:t>
            </a:r>
            <a:r>
              <a:rPr lang="en-US" sz="2400" i="1" smtClean="0"/>
              <a:t>u</a:t>
            </a:r>
            <a:r>
              <a:rPr lang="ru-RU" sz="2400" smtClean="0"/>
              <a:t>║≤ ║А║ ∙</a:t>
            </a:r>
            <a:r>
              <a:rPr lang="ru-RU" sz="2400" baseline="-25000" smtClean="0"/>
              <a:t> </a:t>
            </a:r>
            <a:r>
              <a:rPr lang="ru-RU" sz="2400" smtClean="0"/>
              <a:t>║</a:t>
            </a:r>
            <a:r>
              <a:rPr lang="en-US" sz="2400" smtClean="0"/>
              <a:t>u</a:t>
            </a:r>
            <a:r>
              <a:rPr lang="ru-RU" sz="2400" smtClean="0"/>
              <a:t>║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95288" y="549275"/>
            <a:ext cx="8386762" cy="416560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 marL="0" indent="361950">
              <a:buFont typeface="Arial" charset="0"/>
              <a:buNone/>
            </a:pPr>
            <a:r>
              <a:rPr lang="ru-RU" sz="2400" smtClean="0"/>
              <a:t>Согласованные с введёнными выше нормами векторов нормы матриц будут определяться следующим образом:</a:t>
            </a:r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                                                                                         (2.3а)</a:t>
            </a:r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                                                                                         (2.3б</a:t>
            </a:r>
            <a:r>
              <a:rPr lang="en-US" sz="2400" smtClean="0"/>
              <a:t>)</a:t>
            </a:r>
            <a:endParaRPr lang="ru-RU" sz="2400" smtClean="0"/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                                                                                          (2.3в)</a:t>
            </a:r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и евклидова норма матрицы:</a:t>
            </a:r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                                                                                          (2.3г)</a:t>
            </a:r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endParaRPr lang="ru-RU" sz="2400" smtClean="0"/>
          </a:p>
          <a:p>
            <a:pPr marL="0" indent="361950">
              <a:buFont typeface="Arial" charset="0"/>
              <a:buNone/>
            </a:pPr>
            <a:endParaRPr lang="ru-RU" sz="2400" smtClean="0"/>
          </a:p>
        </p:txBody>
      </p:sp>
      <p:sp>
        <p:nvSpPr>
          <p:cNvPr id="51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2" name="Object 1"/>
          <p:cNvGraphicFramePr>
            <a:graphicFrameLocks noChangeAspect="1"/>
          </p:cNvGraphicFramePr>
          <p:nvPr/>
        </p:nvGraphicFramePr>
        <p:xfrm>
          <a:off x="2555875" y="3284538"/>
          <a:ext cx="2143125" cy="571500"/>
        </p:xfrm>
        <a:graphic>
          <a:graphicData uri="http://schemas.openxmlformats.org/presentationml/2006/ole">
            <p:oleObj spid="_x0000_s5122" name="Формула" r:id="rId4" imgW="1282700" imgH="342900" progId="">
              <p:embed/>
            </p:oleObj>
          </a:graphicData>
        </a:graphic>
      </p:graphicFrame>
      <p:sp>
        <p:nvSpPr>
          <p:cNvPr id="51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500313" y="1357313"/>
          <a:ext cx="1714500" cy="700087"/>
        </p:xfrm>
        <a:graphic>
          <a:graphicData uri="http://schemas.openxmlformats.org/presentationml/2006/ole">
            <p:oleObj spid="_x0000_s5123" name="Формула" r:id="rId5" imgW="1091726" imgH="444307" progId="">
              <p:embed/>
            </p:oleObj>
          </a:graphicData>
        </a:graphic>
      </p:graphicFrame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4" name="Object 5"/>
          <p:cNvGraphicFramePr>
            <a:graphicFrameLocks noChangeAspect="1"/>
          </p:cNvGraphicFramePr>
          <p:nvPr/>
        </p:nvGraphicFramePr>
        <p:xfrm>
          <a:off x="2484438" y="2205038"/>
          <a:ext cx="1841500" cy="714375"/>
        </p:xfrm>
        <a:graphic>
          <a:graphicData uri="http://schemas.openxmlformats.org/presentationml/2006/ole">
            <p:oleObj spid="_x0000_s5124" name="Формула" r:id="rId6" imgW="1104900" imgH="431800" progId="">
              <p:embed/>
            </p:oleObj>
          </a:graphicData>
        </a:graphic>
      </p:graphicFrame>
      <p:pic>
        <p:nvPicPr>
          <p:cNvPr id="5129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484438" y="5013325"/>
            <a:ext cx="21050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/>
          <a:lstStyle/>
          <a:p>
            <a:r>
              <a:rPr lang="ru-RU" sz="3200" b="1" smtClean="0"/>
              <a:t>Обусловленность СЛАУ </a:t>
            </a:r>
            <a:br>
              <a:rPr lang="ru-RU" sz="3200" b="1" smtClean="0"/>
            </a:br>
            <a:r>
              <a:rPr lang="ru-RU" sz="3200" b="1" smtClean="0"/>
              <a:t>Число обусловленности матрицы</a:t>
            </a: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57188" y="1143000"/>
            <a:ext cx="8523287" cy="2781300"/>
          </a:xfrm>
          <a:noFill/>
        </p:spPr>
      </p:pic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325" y="3857625"/>
            <a:ext cx="8767763" cy="2751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16387" name="Рисунок 2" descr="18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325" y="298450"/>
            <a:ext cx="827405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263" y="3071813"/>
            <a:ext cx="8323262" cy="307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285750"/>
            <a:ext cx="6838950" cy="644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250" y="4508500"/>
            <a:ext cx="16859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50" y="5373688"/>
            <a:ext cx="15081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b="1" smtClean="0"/>
              <a:t>Пример.</a:t>
            </a:r>
            <a:r>
              <a:rPr lang="ru-RU" sz="2400" smtClean="0"/>
              <a:t>  Вычислить число обусловленности для матрицы А.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ru-RU" sz="2400" smtClean="0"/>
              <a:t>Для этой матрицы  </a:t>
            </a:r>
            <a:r>
              <a:rPr lang="en-US" sz="2400" smtClean="0"/>
              <a:t>det</a:t>
            </a:r>
            <a:r>
              <a:rPr lang="ru-RU" sz="2400" smtClean="0"/>
              <a:t>А = 10</a:t>
            </a:r>
            <a:r>
              <a:rPr lang="ru-RU" sz="2400" baseline="30000" smtClean="0"/>
              <a:t>-4</a:t>
            </a:r>
            <a:r>
              <a:rPr lang="ru-RU" sz="2400" smtClean="0"/>
              <a:t>≠ 0   А</a:t>
            </a:r>
            <a:r>
              <a:rPr lang="ru-RU" sz="2400" baseline="30000" smtClean="0"/>
              <a:t>-1</a:t>
            </a:r>
            <a:r>
              <a:rPr lang="ru-RU" sz="2400" smtClean="0"/>
              <a:t>= 10</a:t>
            </a:r>
            <a:r>
              <a:rPr lang="ru-RU" sz="2400" baseline="30000" smtClean="0"/>
              <a:t>4</a:t>
            </a:r>
            <a:r>
              <a:rPr lang="ru-RU" sz="2400" smtClean="0"/>
              <a:t>∙   </a:t>
            </a:r>
          </a:p>
          <a:p>
            <a:pPr>
              <a:buFont typeface="Arial" charset="0"/>
              <a:buNone/>
            </a:pPr>
            <a:endParaRPr 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</a:pP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║А║</a:t>
            </a:r>
            <a:r>
              <a:rPr lang="ru-RU" sz="2400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= 1,99;  ║А</a:t>
            </a:r>
            <a:r>
              <a:rPr lang="ru-RU" sz="2400" baseline="30000" smtClean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║</a:t>
            </a:r>
            <a:r>
              <a:rPr lang="ru-RU" sz="2400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= 1,99∙10</a:t>
            </a:r>
            <a:r>
              <a:rPr lang="ru-RU" sz="2400" baseline="3000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;  </a:t>
            </a:r>
            <a:r>
              <a:rPr lang="el-GR" sz="2400" smtClean="0">
                <a:latin typeface="Times New Roman" pitchFamily="18" charset="0"/>
                <a:cs typeface="Times New Roman" pitchFamily="18" charset="0"/>
              </a:rPr>
              <a:t>μ</a:t>
            </a:r>
            <a:r>
              <a:rPr lang="ru-RU" sz="2400" smtClean="0">
                <a:latin typeface="Times New Roman" pitchFamily="18" charset="0"/>
                <a:cs typeface="Times New Roman" pitchFamily="18" charset="0"/>
              </a:rPr>
              <a:t>(А) = 39601</a:t>
            </a:r>
            <a:endParaRPr lang="ru-RU" sz="2400" baseline="-250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18436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00188" y="1143000"/>
            <a:ext cx="1963737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18438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72188" y="1879600"/>
            <a:ext cx="1928812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smtClean="0"/>
              <a:t>Классический пример плохо обусловленной матрицы – матрица Гильберта: </a:t>
            </a:r>
            <a:r>
              <a:rPr lang="en-US" sz="2400" smtClean="0"/>
              <a:t> </a:t>
            </a:r>
            <a:r>
              <a:rPr lang="en-US" sz="2400" i="1" smtClean="0"/>
              <a:t>a</a:t>
            </a:r>
            <a:r>
              <a:rPr lang="en-US" sz="2400" i="1" baseline="-25000" smtClean="0"/>
              <a:t>ij</a:t>
            </a:r>
            <a:r>
              <a:rPr lang="en-US" sz="2400" i="1" smtClean="0"/>
              <a:t> = 1/(i+ j – 1),     i, j = 1,…,n.</a:t>
            </a:r>
          </a:p>
          <a:p>
            <a:pPr>
              <a:buFont typeface="Arial" charset="0"/>
              <a:buNone/>
            </a:pPr>
            <a:endParaRPr lang="ru-RU" sz="2400" i="1" smtClean="0"/>
          </a:p>
          <a:p>
            <a:pPr algn="ctr">
              <a:buFont typeface="Arial" charset="0"/>
              <a:buNone/>
            </a:pPr>
            <a:r>
              <a:rPr lang="ru-RU" sz="2400" smtClean="0"/>
              <a:t>Числа обусловленности для матриц Гильберта различных порядков</a:t>
            </a:r>
            <a:endParaRPr lang="en-US" sz="2400" smtClean="0"/>
          </a:p>
          <a:p>
            <a:pPr algn="ctr">
              <a:buFont typeface="Arial" charset="0"/>
              <a:buNone/>
            </a:pPr>
            <a:endParaRPr lang="en-US" sz="2400" smtClean="0"/>
          </a:p>
          <a:p>
            <a:pPr algn="ctr">
              <a:buFont typeface="Arial" charset="0"/>
              <a:buNone/>
            </a:pPr>
            <a:endParaRPr lang="en-US" sz="2400" smtClean="0"/>
          </a:p>
          <a:p>
            <a:pPr algn="ctr"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&gt;&gt;cond(hilb(n))</a:t>
            </a:r>
            <a:endParaRPr lang="ru-RU" sz="2400" smtClean="0"/>
          </a:p>
          <a:p>
            <a:pPr algn="ctr">
              <a:buFont typeface="Arial" charset="0"/>
              <a:buNone/>
            </a:pPr>
            <a:endParaRPr lang="ru-RU" sz="2400" smtClean="0"/>
          </a:p>
          <a:p>
            <a:pPr algn="ctr">
              <a:buFont typeface="Arial" charset="0"/>
              <a:buNone/>
            </a:pPr>
            <a:endParaRPr lang="en-US" sz="2400" smtClean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785813" y="2428875"/>
          <a:ext cx="800105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056"/>
                <a:gridCol w="1220767"/>
                <a:gridCol w="1500198"/>
                <a:gridCol w="1500198"/>
                <a:gridCol w="1500198"/>
                <a:gridCol w="157163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l-GR" dirty="0" smtClean="0"/>
                        <a:t>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524,0568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1,4951e+007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4,9315e+011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1,7945e+016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8,4880e+017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dirty="0" smtClean="0"/>
              <a:t>Прямые методы решения СЛАУ</a:t>
            </a:r>
          </a:p>
        </p:txBody>
      </p:sp>
      <p:sp>
        <p:nvSpPr>
          <p:cNvPr id="2048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ru-RU" sz="2400" smtClean="0"/>
              <a:t>Прямые методы </a:t>
            </a:r>
            <a:r>
              <a:rPr lang="en-US" sz="2400" smtClean="0"/>
              <a:t> </a:t>
            </a:r>
            <a:r>
              <a:rPr lang="ru-RU" sz="2400" smtClean="0"/>
              <a:t>дают решение за конечное число шагов. Они просты и универсальны. Их обычно используют для матриц порядка </a:t>
            </a:r>
            <a:r>
              <a:rPr lang="en-US" sz="2400" smtClean="0"/>
              <a:t>n&lt; 10</a:t>
            </a:r>
            <a:r>
              <a:rPr lang="en-US" sz="2400" baseline="30000" smtClean="0"/>
              <a:t>4</a:t>
            </a:r>
            <a:r>
              <a:rPr lang="ru-RU" sz="2400" smtClean="0"/>
              <a:t>. </a:t>
            </a:r>
            <a:endParaRPr lang="ru-RU" sz="2400" baseline="30000" smtClean="0"/>
          </a:p>
          <a:p>
            <a:pPr>
              <a:buFont typeface="Arial" charset="0"/>
              <a:buNone/>
            </a:pPr>
            <a:r>
              <a:rPr lang="ru-RU" sz="2400" smtClean="0"/>
              <a:t>Трудность численного решения СЛАУ определяется видом матрицы А. Большое значение имеют её размер, обусловленность, симметричность, заполненность, специфика расположения ненулевых коэффициентов и др. </a:t>
            </a:r>
          </a:p>
          <a:p>
            <a:pPr>
              <a:buFont typeface="Arial" charset="0"/>
              <a:buNone/>
            </a:pPr>
            <a:r>
              <a:rPr lang="ru-RU" sz="2400" smtClean="0"/>
              <a:t>Легко получается решение системы с диагональной матрицей А: система распадается на </a:t>
            </a:r>
            <a:r>
              <a:rPr lang="en-US" sz="2400" smtClean="0"/>
              <a:t>n</a:t>
            </a:r>
            <a:r>
              <a:rPr lang="ru-RU" sz="2400" smtClean="0"/>
              <a:t> линейных уравнений, каждое из которых содержит лишь одну неизвестную величину.</a:t>
            </a:r>
          </a:p>
          <a:p>
            <a:pPr>
              <a:buFont typeface="Arial" charset="0"/>
              <a:buNone/>
            </a:pPr>
            <a:endParaRPr lang="ru-RU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/>
          </p:cNvSpPr>
          <p:nvPr>
            <p:ph type="body" idx="1"/>
          </p:nvPr>
        </p:nvSpPr>
        <p:spPr>
          <a:xfrm>
            <a:off x="357188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200" b="1" smtClean="0"/>
              <a:t>Для диагональной системы очевидны явные формулы: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563" y="714375"/>
            <a:ext cx="8432800" cy="578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b="1" smtClean="0"/>
              <a:t>Метод исключения Гаусса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309563" y="1500188"/>
            <a:ext cx="8637587" cy="4714875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285750"/>
            <a:ext cx="7534275" cy="650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" y="642938"/>
            <a:ext cx="84582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388" y="285750"/>
            <a:ext cx="8466137" cy="626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346075"/>
            <a:ext cx="8399462" cy="601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206375"/>
            <a:ext cx="7000875" cy="658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 marL="0" indent="361950">
              <a:buFont typeface="Arial" charset="0"/>
              <a:buNone/>
            </a:pPr>
            <a:r>
              <a:rPr lang="ru-RU" sz="2400" smtClean="0"/>
              <a:t>Если в методе Гаусса элемент на главной диагонали мал, то коэффициенты становятся большими числами, и при пересчёте элементов матрицы может быть значительная потеря точности на ошибках округления при вычитании больших чисел. Чтобы этого не происходило , перед исключением </a:t>
            </a:r>
            <a:r>
              <a:rPr lang="en-US" sz="2400" smtClean="0"/>
              <a:t>u</a:t>
            </a:r>
            <a:r>
              <a:rPr lang="ru-RU" sz="2400" baseline="-25000" smtClean="0"/>
              <a:t>1</a:t>
            </a:r>
            <a:r>
              <a:rPr lang="en-US" sz="2400" smtClean="0"/>
              <a:t> </a:t>
            </a:r>
            <a:r>
              <a:rPr lang="ru-RU" sz="2400" smtClean="0"/>
              <a:t>среди элементов 1</a:t>
            </a:r>
            <a:r>
              <a:rPr lang="en-US" sz="2400" smtClean="0"/>
              <a:t>- </a:t>
            </a:r>
            <a:r>
              <a:rPr lang="ru-RU" sz="2400" smtClean="0"/>
              <a:t>ого столбца находится главный или максимальный элемент.</a:t>
            </a:r>
            <a:endParaRPr lang="en-US" sz="2400" smtClean="0"/>
          </a:p>
          <a:p>
            <a:pPr marL="0" indent="361950">
              <a:buFont typeface="Arial" charset="0"/>
              <a:buNone/>
            </a:pPr>
            <a:r>
              <a:rPr lang="ru-RU" sz="2400" smtClean="0"/>
              <a:t>Этот метод называется </a:t>
            </a:r>
            <a:r>
              <a:rPr lang="ru-RU" sz="2400" b="1" smtClean="0"/>
              <a:t>методом Гаусса с выбором главного или ведущего элемента.</a:t>
            </a:r>
            <a:r>
              <a:rPr lang="en-US" sz="2400" b="1" smtClean="0"/>
              <a:t> </a:t>
            </a:r>
            <a:r>
              <a:rPr lang="ru-RU" sz="2400" smtClean="0"/>
              <a:t>Из-за  накапливания погрешностей в процессе округления метод Гаусса без выбора главных элементов используется обычно для решения сравнительно небольших (</a:t>
            </a:r>
            <a:r>
              <a:rPr lang="en-US" sz="2400" smtClean="0"/>
              <a:t>n≤100)</a:t>
            </a:r>
            <a:r>
              <a:rPr lang="ru-RU" sz="2400" smtClean="0"/>
              <a:t> систем уравнений с плотно заполненной матрицей коэффициентов и не близким к нулю определителем. Если матрица А сильно разрежена, а её определитель при  этом не близок к нулю, то метод Гаусса пригоден для решения больших систем уравнений.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563" y="285750"/>
            <a:ext cx="7254875" cy="648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smtClean="0"/>
              <a:t>При решении многих прикладных задач  возникают </a:t>
            </a:r>
            <a:r>
              <a:rPr lang="ru-RU" sz="2400" b="1" smtClean="0"/>
              <a:t>разреженные матрицы</a:t>
            </a:r>
            <a:r>
              <a:rPr lang="ru-RU" sz="2400" smtClean="0"/>
              <a:t>, т.е матрицы, в которых много нулевых элементов. К ним относятся и трёхдиагональные матрицы. </a:t>
            </a:r>
            <a:r>
              <a:rPr lang="ru-RU" sz="2400" b="1" smtClean="0"/>
              <a:t>Метод прогонки </a:t>
            </a:r>
            <a:r>
              <a:rPr lang="ru-RU" sz="2400" smtClean="0"/>
              <a:t>разработан для решения систем уравнений с трёхдиагональной матрицей. </a:t>
            </a:r>
          </a:p>
          <a:p>
            <a:pPr>
              <a:buFont typeface="Arial" charset="0"/>
              <a:buNone/>
            </a:pPr>
            <a:endParaRPr lang="ru-RU" sz="2400" baseline="-25000" smtClean="0"/>
          </a:p>
          <a:p>
            <a:pPr>
              <a:buFont typeface="Arial" charset="0"/>
              <a:buNone/>
            </a:pPr>
            <a:r>
              <a:rPr lang="ru-RU" sz="2400" smtClean="0"/>
              <a:t>Для хранения квадратной матрицы А размерности </a:t>
            </a:r>
            <a:r>
              <a:rPr lang="en-US" sz="2400" smtClean="0"/>
              <a:t>nxn </a:t>
            </a:r>
            <a:r>
              <a:rPr lang="ru-RU" sz="2400" smtClean="0"/>
              <a:t>требуется </a:t>
            </a:r>
            <a:r>
              <a:rPr lang="en-US" sz="2400" smtClean="0"/>
              <a:t>n</a:t>
            </a:r>
            <a:r>
              <a:rPr lang="en-US" sz="2400" baseline="30000" smtClean="0"/>
              <a:t>2</a:t>
            </a:r>
            <a:r>
              <a:rPr lang="en-US" sz="2400" smtClean="0"/>
              <a:t> </a:t>
            </a:r>
            <a:r>
              <a:rPr lang="ru-RU" sz="2400" smtClean="0"/>
              <a:t>ячеек памяти и порядка </a:t>
            </a:r>
            <a:r>
              <a:rPr lang="en-US" sz="2400" smtClean="0"/>
              <a:t>n</a:t>
            </a:r>
            <a:r>
              <a:rPr lang="en-US" sz="2400" baseline="30000" smtClean="0"/>
              <a:t>3</a:t>
            </a:r>
            <a:r>
              <a:rPr lang="ru-RU" sz="2400" smtClean="0"/>
              <a:t> арифметических операций при работе с ней. Память, отводимая под хранение разреженной матрицы, пропорциональна количеству ненулевых элементов памяти. Оно вычисляется командой </a:t>
            </a:r>
            <a:r>
              <a:rPr lang="en-US" sz="2400" b="1" smtClean="0"/>
              <a:t>mnz(A)</a:t>
            </a:r>
            <a:r>
              <a:rPr lang="ru-RU" sz="2400" smtClean="0"/>
              <a:t>. Количество арифметических операция также пропорционально</a:t>
            </a:r>
            <a:r>
              <a:rPr lang="en-US" sz="2400" smtClean="0"/>
              <a:t> </a:t>
            </a:r>
            <a:r>
              <a:rPr lang="en-US" sz="2400" b="1" smtClean="0"/>
              <a:t>mnz(A)</a:t>
            </a:r>
            <a:r>
              <a:rPr lang="ru-RU" sz="24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en-US" sz="2400" b="1" smtClean="0"/>
              <a:t>LU</a:t>
            </a:r>
            <a:r>
              <a:rPr lang="ru-RU" sz="2400" b="1" smtClean="0"/>
              <a:t>-разложение</a:t>
            </a:r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13" y="928688"/>
            <a:ext cx="7994650" cy="5738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88" y="714375"/>
            <a:ext cx="8618537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142875"/>
            <a:ext cx="7086600" cy="662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1285875"/>
            <a:ext cx="8367712" cy="337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ru-RU" b="1" smtClean="0"/>
              <a:t>Метод Холецкого (метод квадратного корня)</a:t>
            </a:r>
            <a:endParaRPr lang="ru-RU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ru-RU" sz="2200" b="1" smtClean="0"/>
              <a:t>Пусть матрица А рассматриваемой линейной системы - симметричная, т.е. </a:t>
            </a:r>
            <a:r>
              <a:rPr lang="en-US" sz="2200" b="1" smtClean="0"/>
              <a:t>a</a:t>
            </a:r>
            <a:r>
              <a:rPr lang="en-US" sz="2200" b="1" baseline="-25000" smtClean="0"/>
              <a:t>ij</a:t>
            </a:r>
            <a:r>
              <a:rPr lang="en-US" sz="2200" b="1" smtClean="0"/>
              <a:t>=a</a:t>
            </a:r>
            <a:r>
              <a:rPr lang="en-US" sz="2200" b="1" baseline="-25000" smtClean="0"/>
              <a:t>ji</a:t>
            </a:r>
            <a:r>
              <a:rPr lang="ru-RU" sz="2200" b="1" smtClean="0"/>
              <a:t>, положительная матрица. Тогда она представима в виде </a:t>
            </a:r>
            <a:r>
              <a:rPr lang="en-US" sz="2200" b="1" smtClean="0"/>
              <a:t>A=LL</a:t>
            </a:r>
            <a:r>
              <a:rPr lang="en-US" sz="2200" b="1" baseline="30000" smtClean="0"/>
              <a:t>T</a:t>
            </a:r>
            <a:r>
              <a:rPr lang="ru-RU" sz="2200" b="1" smtClean="0"/>
              <a:t>, где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513" y="3214688"/>
            <a:ext cx="8281987" cy="291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68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0" y="357188"/>
            <a:ext cx="7673975" cy="630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789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285750"/>
            <a:ext cx="8770937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2286000"/>
            <a:ext cx="86137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000125"/>
            <a:ext cx="8602663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4941888"/>
            <a:ext cx="8642350" cy="109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body" idx="1"/>
          </p:nvPr>
        </p:nvSpPr>
        <p:spPr>
          <a:xfrm>
            <a:off x="357188" y="285750"/>
            <a:ext cx="8229600" cy="6572250"/>
          </a:xfrm>
        </p:spPr>
        <p:txBody>
          <a:bodyPr/>
          <a:lstStyle/>
          <a:p>
            <a:pPr algn="ctr">
              <a:buFont typeface="Arial" charset="0"/>
              <a:buNone/>
            </a:pPr>
            <a:r>
              <a:rPr lang="ru-RU" b="1" smtClean="0"/>
              <a:t>Метод обратной матрицы</a:t>
            </a:r>
          </a:p>
          <a:p>
            <a:pPr>
              <a:buFont typeface="Arial" charset="0"/>
              <a:buNone/>
            </a:pPr>
            <a:r>
              <a:rPr lang="ru-RU" sz="2400" smtClean="0"/>
              <a:t>В матричном виде СЛАУ имеет вид </a:t>
            </a:r>
            <a:r>
              <a:rPr lang="en-US" sz="2400" smtClean="0"/>
              <a:t>    </a:t>
            </a:r>
            <a:r>
              <a:rPr lang="ru-RU" sz="2400" smtClean="0"/>
              <a:t> </a:t>
            </a:r>
            <a:r>
              <a:rPr lang="en-US" sz="2400" b="1" i="1" smtClean="0"/>
              <a:t>Au=f</a:t>
            </a:r>
            <a:r>
              <a:rPr lang="ru-RU" sz="2400" b="1" i="1" smtClean="0"/>
              <a:t>  .</a:t>
            </a:r>
          </a:p>
          <a:p>
            <a:pPr>
              <a:buFont typeface="Arial" charset="0"/>
              <a:buNone/>
            </a:pPr>
            <a:r>
              <a:rPr lang="ru-RU" sz="2400" smtClean="0"/>
              <a:t>Методом обратной матрицы решение системы может быть получено в результате умножения слева правой и левой частей этого уравнения на обратную матрицу от матрицы коэффициентов системы:</a:t>
            </a:r>
          </a:p>
          <a:p>
            <a:pPr>
              <a:buFont typeface="Arial" charset="0"/>
              <a:buNone/>
            </a:pPr>
            <a:r>
              <a:rPr lang="en-US" sz="2400" smtClean="0"/>
              <a:t>                                                     </a:t>
            </a:r>
            <a:r>
              <a:rPr lang="en-US" sz="2400" i="1" smtClean="0"/>
              <a:t>A</a:t>
            </a:r>
            <a:r>
              <a:rPr lang="en-US" sz="2400" i="1" baseline="30000" smtClean="0"/>
              <a:t>-1</a:t>
            </a:r>
            <a:r>
              <a:rPr lang="en-US" sz="2400" i="1" smtClean="0"/>
              <a:t>Ax = A</a:t>
            </a:r>
            <a:r>
              <a:rPr lang="en-US" sz="2400" i="1" baseline="30000" smtClean="0"/>
              <a:t>-1</a:t>
            </a:r>
            <a:r>
              <a:rPr lang="en-US" sz="2400" i="1" smtClean="0"/>
              <a:t>f</a:t>
            </a:r>
          </a:p>
          <a:p>
            <a:pPr>
              <a:buFont typeface="Arial" charset="0"/>
              <a:buNone/>
            </a:pPr>
            <a:r>
              <a:rPr lang="ru-RU" sz="2400" smtClean="0"/>
              <a:t>Учитывая, что    </a:t>
            </a:r>
            <a:r>
              <a:rPr lang="en-US" sz="2400" i="1" smtClean="0"/>
              <a:t>A</a:t>
            </a:r>
            <a:r>
              <a:rPr lang="en-US" sz="2400" i="1" baseline="30000" smtClean="0"/>
              <a:t>-1</a:t>
            </a:r>
            <a:r>
              <a:rPr lang="en-US" sz="2400" i="1" smtClean="0"/>
              <a:t>A</a:t>
            </a:r>
            <a:r>
              <a:rPr lang="ru-RU" sz="2400" i="1" smtClean="0"/>
              <a:t> = Е,    </a:t>
            </a:r>
            <a:r>
              <a:rPr lang="ru-RU" sz="2400" smtClean="0"/>
              <a:t>получаем</a:t>
            </a:r>
            <a:r>
              <a:rPr lang="ru-RU" sz="2400" i="1" smtClean="0"/>
              <a:t>       </a:t>
            </a:r>
            <a:r>
              <a:rPr lang="en-US" sz="2400" i="1" smtClean="0"/>
              <a:t>x = A</a:t>
            </a:r>
            <a:r>
              <a:rPr lang="en-US" sz="2400" i="1" baseline="30000" smtClean="0"/>
              <a:t>-1</a:t>
            </a:r>
            <a:r>
              <a:rPr lang="en-US" sz="2400" i="1" smtClean="0"/>
              <a:t>f</a:t>
            </a:r>
            <a:r>
              <a:rPr lang="ru-RU" sz="2400" i="1" smtClean="0"/>
              <a:t>.</a:t>
            </a:r>
          </a:p>
          <a:p>
            <a:pPr>
              <a:buFont typeface="Arial" charset="0"/>
              <a:buNone/>
            </a:pPr>
            <a:r>
              <a:rPr lang="ru-RU" sz="2400" smtClean="0"/>
              <a:t>Этот метод удобно применять в тех случаях, когда несколько раз решается система уравнений с разными правыми частями. В этом случае достаточно один раз вычислить обратную матрицу </a:t>
            </a:r>
            <a:r>
              <a:rPr lang="en-US" sz="2400" i="1" smtClean="0"/>
              <a:t>A</a:t>
            </a:r>
            <a:r>
              <a:rPr lang="en-US" sz="2400" i="1" baseline="30000" smtClean="0"/>
              <a:t>-1</a:t>
            </a:r>
            <a:r>
              <a:rPr lang="ru-RU" sz="2400" i="1" baseline="30000" smtClean="0"/>
              <a:t> </a:t>
            </a:r>
            <a:r>
              <a:rPr lang="ru-RU" sz="2400" smtClean="0"/>
              <a:t>и затем умножать её на различные векторы </a:t>
            </a:r>
            <a:r>
              <a:rPr lang="en-US" sz="2400" i="1" smtClean="0"/>
              <a:t>f</a:t>
            </a:r>
            <a:r>
              <a:rPr lang="ru-RU" sz="2400" smtClean="0"/>
              <a:t>.</a:t>
            </a:r>
          </a:p>
          <a:p>
            <a:pPr>
              <a:buFont typeface="Arial" charset="0"/>
              <a:buNone/>
            </a:pPr>
            <a:r>
              <a:rPr lang="ru-RU" sz="2400" smtClean="0"/>
              <a:t>Недостатком  метода являются трудности вычисления обратной матрицы, особенно если она большой размерности или если её определитель близок к нулю.</a:t>
            </a:r>
          </a:p>
          <a:p>
            <a:pPr>
              <a:buFont typeface="Arial" charset="0"/>
              <a:buNone/>
            </a:pPr>
            <a:endParaRPr lang="ru-RU" sz="2000" i="1" baseline="30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 algn="ctr">
              <a:buFont typeface="Arial" charset="0"/>
              <a:buNone/>
              <a:defRPr/>
            </a:pPr>
            <a:r>
              <a:rPr lang="en-US" sz="2400" dirty="0" smtClean="0"/>
              <a:t> </a:t>
            </a:r>
            <a:r>
              <a:rPr lang="ru-RU" sz="2400" b="1" dirty="0" smtClean="0"/>
              <a:t>Решение СЛАУ в </a:t>
            </a:r>
            <a:r>
              <a:rPr lang="en-US" sz="2400" b="1" dirty="0" smtClean="0"/>
              <a:t>MATLAB</a:t>
            </a:r>
            <a:endParaRPr lang="ru-RU" sz="2400" b="1" dirty="0" smtClean="0"/>
          </a:p>
          <a:p>
            <a:pPr marL="0" indent="361950" algn="just">
              <a:buFont typeface="Arial" charset="0"/>
              <a:buNone/>
              <a:defRPr/>
            </a:pPr>
            <a:r>
              <a:rPr lang="ru-RU" sz="2400" dirty="0" smtClean="0"/>
              <a:t>В </a:t>
            </a:r>
            <a:r>
              <a:rPr lang="en-US" sz="2400" dirty="0" smtClean="0"/>
              <a:t>MATLAB</a:t>
            </a:r>
            <a:r>
              <a:rPr lang="ru-RU" sz="2400" dirty="0" smtClean="0"/>
              <a:t> имеется обширный арсенал методов решения  СЛАУ. Для этого применяются следующие операторы:</a:t>
            </a:r>
            <a:endParaRPr lang="en-US" sz="2400" dirty="0" smtClean="0"/>
          </a:p>
          <a:p>
            <a:pPr algn="ctr">
              <a:buFont typeface="Arial" charset="0"/>
              <a:buNone/>
              <a:defRPr/>
            </a:pPr>
            <a:endParaRPr lang="en-US" sz="2400" b="1" dirty="0" smtClean="0"/>
          </a:p>
          <a:p>
            <a:pPr algn="ctr">
              <a:buFont typeface="Arial" charset="0"/>
              <a:buNone/>
              <a:defRPr/>
            </a:pPr>
            <a:endParaRPr lang="ru-RU" sz="2400" b="1" dirty="0" smtClean="0"/>
          </a:p>
        </p:txBody>
      </p:sp>
      <p:pic>
        <p:nvPicPr>
          <p:cNvPr id="4096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8538" y="2133600"/>
            <a:ext cx="4275137" cy="189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4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00" y="4508500"/>
            <a:ext cx="1884363" cy="172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prod(V) </a:t>
            </a:r>
            <a:r>
              <a:rPr lang="ru-RU" sz="2400" smtClean="0"/>
              <a:t>или </a:t>
            </a:r>
            <a:r>
              <a:rPr lang="en-US" sz="2400" b="1" smtClean="0"/>
              <a:t>prod(A,k</a:t>
            </a:r>
            <a:r>
              <a:rPr lang="en-US" sz="2400" smtClean="0"/>
              <a:t>) – </a:t>
            </a:r>
            <a:r>
              <a:rPr lang="ru-RU" sz="2400" smtClean="0"/>
              <a:t>вычисляет произведение элементов массива </a:t>
            </a:r>
            <a:r>
              <a:rPr lang="en-US" sz="2400" b="1" i="1" smtClean="0"/>
              <a:t>V</a:t>
            </a:r>
            <a:r>
              <a:rPr lang="ru-RU" sz="2400" smtClean="0"/>
              <a:t> или произведения столбцов или строк матрицы в зависимости от значения </a:t>
            </a:r>
            <a:r>
              <a:rPr lang="en-US" sz="2400" b="1" smtClean="0"/>
              <a:t>k</a:t>
            </a:r>
            <a:r>
              <a:rPr lang="en-US" sz="2400" smtClean="0"/>
              <a:t>;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V=[1,2,3];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prod (V)</a:t>
            </a:r>
            <a:r>
              <a:rPr lang="ru-RU" sz="2400" smtClean="0"/>
              <a:t> </a:t>
            </a:r>
            <a:r>
              <a:rPr lang="en-US" sz="2400" smtClean="0"/>
              <a:t>%</a:t>
            </a:r>
            <a:r>
              <a:rPr lang="ru-RU" sz="2400" smtClean="0"/>
              <a:t> произведение элементов вектора</a:t>
            </a:r>
          </a:p>
          <a:p>
            <a:pPr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&gt;&gt;A=[1 2;3 4]</a:t>
            </a: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prod(A)</a:t>
            </a:r>
            <a:r>
              <a:rPr lang="ru-RU" sz="2400" smtClean="0"/>
              <a:t> %произведения столбцов матрицы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&gt;&gt;prod(A,1) %</a:t>
            </a:r>
            <a:r>
              <a:rPr lang="ru-RU" sz="2400" smtClean="0"/>
              <a:t> произведения столбцов матрицы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prod(A,2) %</a:t>
            </a:r>
            <a:r>
              <a:rPr lang="ru-RU" sz="2400" smtClean="0"/>
              <a:t> произведения строк матрицы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sum(V) </a:t>
            </a:r>
            <a:r>
              <a:rPr lang="ru-RU" sz="2400" smtClean="0"/>
              <a:t>или </a:t>
            </a:r>
            <a:r>
              <a:rPr lang="en-US" sz="2400" b="1" smtClean="0"/>
              <a:t>sum(A,k) </a:t>
            </a:r>
            <a:r>
              <a:rPr lang="en-US" sz="2400" smtClean="0"/>
              <a:t>– </a:t>
            </a:r>
            <a:r>
              <a:rPr lang="ru-RU" sz="2400" smtClean="0"/>
              <a:t>вычисляет сумму элементов массива </a:t>
            </a:r>
            <a:r>
              <a:rPr lang="en-US" sz="2400" b="1" i="1" smtClean="0"/>
              <a:t>V</a:t>
            </a:r>
            <a:r>
              <a:rPr lang="ru-RU" sz="2400" smtClean="0"/>
              <a:t> или сумму столбцов или строк матрицы, в зависимости от значения </a:t>
            </a:r>
            <a:r>
              <a:rPr lang="en-US" sz="2400" b="1" smtClean="0"/>
              <a:t>k</a:t>
            </a:r>
            <a:r>
              <a:rPr lang="en-US" sz="2400" smtClean="0"/>
              <a:t>; 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&gt;&gt;V=[-1 0 3 -2 1 -1 1]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&gt;&gt;sum(V)</a:t>
            </a:r>
            <a:r>
              <a:rPr lang="ru-RU" sz="2400" smtClean="0"/>
              <a:t> %сумма элементов вектора</a:t>
            </a:r>
          </a:p>
          <a:p>
            <a:pPr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&gt;&gt;C=[1 2 3;1 2 3]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&gt;&gt;sum(C,1)</a:t>
            </a:r>
            <a:r>
              <a:rPr lang="ru-RU" sz="2400" smtClean="0"/>
              <a:t> %сумма элементов матрицы по столбцам</a:t>
            </a:r>
          </a:p>
          <a:p>
            <a:pPr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&gt;&gt;sum(C,2)</a:t>
            </a:r>
            <a:r>
              <a:rPr lang="ru-RU" sz="2400" smtClean="0"/>
              <a:t> %сумма элементов матрицы по строкам</a:t>
            </a:r>
            <a:endParaRPr lang="en-US" sz="2400" smtClean="0"/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dot (v1,v2) </a:t>
            </a:r>
            <a:r>
              <a:rPr lang="en-US" sz="2400" smtClean="0"/>
              <a:t>– </a:t>
            </a:r>
            <a:r>
              <a:rPr lang="ru-RU" sz="2400" smtClean="0"/>
              <a:t>вычисляет скалярное произведение векторов </a:t>
            </a:r>
            <a:r>
              <a:rPr lang="en-US" sz="2400" smtClean="0"/>
              <a:t>v1 </a:t>
            </a:r>
            <a:r>
              <a:rPr lang="ru-RU" sz="2400" smtClean="0"/>
              <a:t>и</a:t>
            </a:r>
            <a:r>
              <a:rPr lang="en-US" sz="2400" smtClean="0"/>
              <a:t> v2</a:t>
            </a:r>
            <a:r>
              <a:rPr lang="ru-RU" sz="2400" smtClean="0"/>
              <a:t>, то же значение выдаст функция </a:t>
            </a:r>
            <a:r>
              <a:rPr lang="en-US" sz="2400" smtClean="0"/>
              <a:t> sum(v1.*v2);</a:t>
            </a: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&gt;&gt;v1=[1.2;0.3;-1.1]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&gt;&gt;v2=[-0.9;2.1;0.5]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&gt;&gt;dot (v1,v2) </a:t>
            </a:r>
            <a:r>
              <a:rPr lang="ru-RU" sz="2400" smtClean="0"/>
              <a:t>%скалярное произведение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sum(v1.*v2)</a:t>
            </a:r>
            <a:r>
              <a:rPr lang="ru-RU" sz="2400" smtClean="0"/>
              <a:t> %скалярное произведение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cross (v1,v2) </a:t>
            </a:r>
            <a:r>
              <a:rPr lang="en-US" sz="2400" smtClean="0"/>
              <a:t>– </a:t>
            </a:r>
            <a:r>
              <a:rPr lang="ru-RU" sz="2400" smtClean="0"/>
              <a:t>определяет векторное произведение векторов </a:t>
            </a:r>
            <a:r>
              <a:rPr lang="en-US" sz="2400" smtClean="0"/>
              <a:t>v1 </a:t>
            </a:r>
            <a:r>
              <a:rPr lang="ru-RU" sz="2400" smtClean="0"/>
              <a:t>и</a:t>
            </a:r>
            <a:r>
              <a:rPr lang="en-US" sz="2400" smtClean="0"/>
              <a:t> v2</a:t>
            </a:r>
            <a:r>
              <a:rPr lang="ru-RU" sz="2400" smtClean="0"/>
              <a:t>;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&gt;&gt;v1=[1.2;0.3;-1.1]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&gt;&gt;v2=[-0.9;2.1;0.5]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&gt;&gt;cross (v1,v2)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min(V) </a:t>
            </a:r>
            <a:r>
              <a:rPr lang="en-US" sz="2400" smtClean="0"/>
              <a:t>– </a:t>
            </a:r>
            <a:r>
              <a:rPr lang="ru-RU" sz="2400" smtClean="0"/>
              <a:t>находит минимальный элемент массива</a:t>
            </a:r>
            <a:r>
              <a:rPr lang="en-US" sz="2400" smtClean="0"/>
              <a:t> </a:t>
            </a:r>
            <a:r>
              <a:rPr lang="en-US" sz="2400" b="1" i="1" smtClean="0"/>
              <a:t>V</a:t>
            </a:r>
            <a:r>
              <a:rPr lang="ru-RU" sz="2400" smtClean="0"/>
              <a:t>, вызов в формате </a:t>
            </a:r>
            <a:r>
              <a:rPr lang="en-US" sz="2400" smtClean="0"/>
              <a:t>[k,n]=min(V)</a:t>
            </a:r>
            <a:r>
              <a:rPr lang="ru-RU" sz="2400" smtClean="0"/>
              <a:t> даёт возможность определить минимальный элемент</a:t>
            </a:r>
            <a:r>
              <a:rPr lang="en-US" sz="2400" smtClean="0"/>
              <a:t> </a:t>
            </a:r>
            <a:r>
              <a:rPr lang="en-US" sz="2400" b="1" smtClean="0"/>
              <a:t>k</a:t>
            </a:r>
            <a:r>
              <a:rPr lang="ru-RU" sz="2400" smtClean="0"/>
              <a:t> и его номер</a:t>
            </a:r>
            <a:r>
              <a:rPr lang="en-US" sz="2400" smtClean="0"/>
              <a:t> </a:t>
            </a:r>
            <a:r>
              <a:rPr lang="en-US" sz="2400" b="1" i="1" smtClean="0"/>
              <a:t>n</a:t>
            </a:r>
            <a:r>
              <a:rPr lang="ru-RU" sz="2400" smtClean="0"/>
              <a:t> в массиве;</a:t>
            </a:r>
            <a:endParaRPr lang="en-US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max(V)</a:t>
            </a:r>
            <a:r>
              <a:rPr lang="ru-RU" sz="2400" b="1" smtClean="0"/>
              <a:t> </a:t>
            </a:r>
            <a:r>
              <a:rPr lang="ru-RU" sz="2400" smtClean="0"/>
              <a:t>-</a:t>
            </a:r>
            <a:r>
              <a:rPr lang="en-US" sz="2400" smtClean="0"/>
              <a:t> </a:t>
            </a:r>
            <a:r>
              <a:rPr lang="ru-RU" sz="2400" smtClean="0"/>
              <a:t>находит максимальный элемент массива</a:t>
            </a:r>
            <a:r>
              <a:rPr lang="en-US" sz="2400" smtClean="0"/>
              <a:t> </a:t>
            </a:r>
            <a:r>
              <a:rPr lang="en-US" sz="2400" b="1" i="1" smtClean="0"/>
              <a:t>V</a:t>
            </a:r>
            <a:r>
              <a:rPr lang="ru-RU" sz="2400" smtClean="0"/>
              <a:t>, вызов в формате </a:t>
            </a:r>
            <a:r>
              <a:rPr lang="en-US" sz="2400" smtClean="0"/>
              <a:t>[k,n]=max(V)</a:t>
            </a:r>
            <a:r>
              <a:rPr lang="ru-RU" sz="2400" smtClean="0"/>
              <a:t> определяет максимальный элемент</a:t>
            </a:r>
            <a:r>
              <a:rPr lang="en-US" sz="2400" smtClean="0"/>
              <a:t> </a:t>
            </a:r>
            <a:r>
              <a:rPr lang="en-US" sz="2400" b="1" smtClean="0"/>
              <a:t>k</a:t>
            </a:r>
            <a:r>
              <a:rPr lang="ru-RU" sz="2400" smtClean="0"/>
              <a:t> и его номер</a:t>
            </a:r>
            <a:r>
              <a:rPr lang="en-US" sz="2400" smtClean="0"/>
              <a:t> </a:t>
            </a:r>
            <a:r>
              <a:rPr lang="en-US" sz="2400" b="1" i="1" smtClean="0"/>
              <a:t>n</a:t>
            </a:r>
            <a:r>
              <a:rPr lang="ru-RU" sz="2400" smtClean="0"/>
              <a:t> в массиве;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V=[-1 0 3 -2 1 -1 1]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min(V)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max(V)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[k,n]=min(V)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[k,n]=max(V)</a:t>
            </a:r>
            <a:endParaRPr lang="ru-RU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sort(V) </a:t>
            </a:r>
            <a:r>
              <a:rPr lang="en-US" sz="2400" smtClean="0"/>
              <a:t>– </a:t>
            </a:r>
            <a:r>
              <a:rPr lang="ru-RU" sz="2400" smtClean="0"/>
              <a:t>выполняет упорядочивание массива</a:t>
            </a:r>
            <a:r>
              <a:rPr lang="en-US" sz="2400" smtClean="0"/>
              <a:t> V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V=[-1 0 3 -2 1 -1 1]</a:t>
            </a:r>
            <a:r>
              <a:rPr lang="ru-RU" sz="2400" smtClean="0"/>
              <a:t> 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sort(V) %</a:t>
            </a:r>
            <a:r>
              <a:rPr lang="ru-RU" sz="2400" smtClean="0"/>
              <a:t>сортировка по возрастанию</a:t>
            </a:r>
            <a:r>
              <a:rPr lang="en-US" sz="2400" smtClean="0"/>
              <a:t> 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-sort(-V)</a:t>
            </a:r>
            <a:r>
              <a:rPr lang="ru-RU" sz="2400" smtClean="0"/>
              <a:t> % сортировка по убыванию.</a:t>
            </a:r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det(M) </a:t>
            </a:r>
            <a:r>
              <a:rPr lang="en-US" sz="2400" smtClean="0"/>
              <a:t>– </a:t>
            </a:r>
            <a:r>
              <a:rPr lang="ru-RU" sz="2400" smtClean="0"/>
              <a:t>вычисляет определитель квадратной матрицы</a:t>
            </a:r>
            <a:r>
              <a:rPr lang="en-US" sz="2400" smtClean="0"/>
              <a:t> M</a:t>
            </a:r>
            <a:r>
              <a:rPr lang="ru-RU" sz="2400" smtClean="0"/>
              <a:t>;</a:t>
            </a:r>
            <a:endParaRPr lang="en-US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rank(M) </a:t>
            </a:r>
            <a:r>
              <a:rPr lang="ru-RU" sz="2400" smtClean="0"/>
              <a:t>– определяет ранг матрицы</a:t>
            </a:r>
            <a:r>
              <a:rPr lang="en-US" sz="2400" smtClean="0"/>
              <a:t> M</a:t>
            </a:r>
            <a:r>
              <a:rPr lang="ru-RU" sz="2400" smtClean="0"/>
              <a:t>;</a:t>
            </a:r>
            <a:endParaRPr lang="en-US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norm(M,p)</a:t>
            </a:r>
            <a:r>
              <a:rPr lang="ru-RU" sz="2400" b="1" smtClean="0"/>
              <a:t> </a:t>
            </a:r>
            <a:r>
              <a:rPr lang="ru-RU" sz="2400" smtClean="0"/>
              <a:t>– вычисляет различные виды норм матрицы М в зависимости от</a:t>
            </a:r>
            <a:r>
              <a:rPr lang="en-US" sz="2400" smtClean="0"/>
              <a:t> p (p=1, 2, inf, fro)</a:t>
            </a:r>
            <a:r>
              <a:rPr lang="ru-RU" sz="2400" smtClean="0"/>
              <a:t>;</a:t>
            </a:r>
            <a:endParaRPr lang="en-US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cond(M,p) </a:t>
            </a:r>
            <a:r>
              <a:rPr lang="ru-RU" sz="2400" smtClean="0"/>
              <a:t>– определяет число обусловленности матрицы </a:t>
            </a:r>
            <a:r>
              <a:rPr lang="en-US" sz="2400" smtClean="0"/>
              <a:t>M</a:t>
            </a:r>
            <a:r>
              <a:rPr lang="ru-RU" sz="2400" smtClean="0"/>
              <a:t>, основанное на норме </a:t>
            </a:r>
            <a:r>
              <a:rPr lang="en-US" sz="2400" smtClean="0"/>
              <a:t>p</a:t>
            </a:r>
            <a:r>
              <a:rPr lang="ru-RU" sz="2400" smtClean="0"/>
              <a:t>;</a:t>
            </a:r>
          </a:p>
          <a:p>
            <a:pPr>
              <a:buFont typeface="Wingdings" pitchFamily="2" charset="2"/>
              <a:buChar char="Ø"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M=[5 7 6 5;7 10 8 7;6 8 10 9;5 7 9 10]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norm(M) </a:t>
            </a:r>
            <a:r>
              <a:rPr lang="ru-RU" sz="2400" smtClean="0"/>
              <a:t>%норма матрицы М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cond(M)</a:t>
            </a:r>
            <a:r>
              <a:rPr lang="ru-RU" sz="2400" smtClean="0"/>
              <a:t> %число обусловленности матрицы М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norm(M,2)</a:t>
            </a:r>
            <a:r>
              <a:rPr lang="ru-RU" sz="2400" smtClean="0"/>
              <a:t> %вторая норма матрицы М, аналогично</a:t>
            </a:r>
            <a:r>
              <a:rPr lang="en-US" sz="2400" smtClean="0"/>
              <a:t> norm(M</a:t>
            </a:r>
            <a:r>
              <a:rPr lang="ru-RU" sz="2400" smtClean="0"/>
              <a:t>)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cond(M,2)</a:t>
            </a:r>
            <a:r>
              <a:rPr lang="ru-RU" sz="2400" smtClean="0"/>
              <a:t> %число обусловленности матрицы М для второй нормы, аналогично </a:t>
            </a:r>
            <a:r>
              <a:rPr lang="en-US" sz="2400" smtClean="0"/>
              <a:t>cond(M)</a:t>
            </a:r>
            <a:r>
              <a:rPr lang="ru-RU" sz="2400" smtClean="0"/>
              <a:t> </a:t>
            </a:r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diag(V,n) </a:t>
            </a:r>
            <a:r>
              <a:rPr lang="ru-RU" sz="2400" smtClean="0"/>
              <a:t>или </a:t>
            </a:r>
            <a:r>
              <a:rPr lang="en-US" sz="2400" b="1" smtClean="0"/>
              <a:t>diag(V) </a:t>
            </a:r>
            <a:r>
              <a:rPr lang="ru-RU" sz="2400" smtClean="0"/>
              <a:t>– создаёт квадратную матрицу с элементами</a:t>
            </a:r>
            <a:r>
              <a:rPr lang="en-US" sz="2400" smtClean="0"/>
              <a:t> V</a:t>
            </a:r>
            <a:r>
              <a:rPr lang="ru-RU" sz="2400" smtClean="0"/>
              <a:t> на</a:t>
            </a:r>
            <a:r>
              <a:rPr lang="en-US" sz="2400" smtClean="0"/>
              <a:t> </a:t>
            </a:r>
            <a:r>
              <a:rPr lang="en-US" sz="2400" b="1" smtClean="0"/>
              <a:t>n</a:t>
            </a:r>
            <a:r>
              <a:rPr lang="ru-RU" sz="2400" smtClean="0"/>
              <a:t>-ой диагонали или элементами</a:t>
            </a:r>
            <a:r>
              <a:rPr lang="en-US" sz="2400" smtClean="0"/>
              <a:t> V</a:t>
            </a:r>
            <a:r>
              <a:rPr lang="ru-RU" sz="2400" smtClean="0"/>
              <a:t> на главной диагонали;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diag(V)  </a:t>
            </a:r>
            <a:r>
              <a:rPr lang="ru-RU" sz="2400" smtClean="0"/>
              <a:t>%диагональная матрица, </a:t>
            </a:r>
            <a:r>
              <a:rPr lang="en-US" sz="2400" smtClean="0"/>
              <a:t>V</a:t>
            </a:r>
            <a:r>
              <a:rPr lang="ru-RU" sz="2400" smtClean="0"/>
              <a:t> на главной диагонали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diag(V,1)</a:t>
            </a:r>
            <a:r>
              <a:rPr lang="ru-RU" sz="2400" smtClean="0"/>
              <a:t> %диагональная матрица, </a:t>
            </a:r>
            <a:r>
              <a:rPr lang="en-US" sz="2400" smtClean="0"/>
              <a:t>V</a:t>
            </a:r>
            <a:r>
              <a:rPr lang="ru-RU" sz="2400" smtClean="0"/>
              <a:t> на первой диагонали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cat(n, A, B, …) </a:t>
            </a:r>
            <a:r>
              <a:rPr lang="en-US" sz="2400" smtClean="0"/>
              <a:t>– </a:t>
            </a:r>
            <a:r>
              <a:rPr lang="ru-RU" sz="2400" smtClean="0"/>
              <a:t>объединяет матрицы А и В и все входящие матрицы, аналогично </a:t>
            </a:r>
            <a:r>
              <a:rPr lang="en-US" sz="2400" smtClean="0"/>
              <a:t>[A,B]</a:t>
            </a:r>
            <a:r>
              <a:rPr lang="ru-RU" sz="2400" smtClean="0"/>
              <a:t>.</a:t>
            </a:r>
          </a:p>
          <a:p>
            <a:pPr>
              <a:buFont typeface="Arial" charset="0"/>
              <a:buNone/>
            </a:pPr>
            <a:endParaRPr lang="ru-RU" sz="2400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inv(M) </a:t>
            </a:r>
            <a:r>
              <a:rPr lang="en-US" sz="2400" smtClean="0"/>
              <a:t>- </a:t>
            </a:r>
            <a:r>
              <a:rPr lang="ru-RU" sz="2400" smtClean="0"/>
              <a:t>вычисляет матрицу, обратную к М</a:t>
            </a:r>
            <a:r>
              <a:rPr lang="en-US" sz="2400" smtClean="0"/>
              <a:t>;</a:t>
            </a:r>
            <a:endParaRPr lang="ru-RU" sz="2400" smtClean="0"/>
          </a:p>
          <a:p>
            <a:pPr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M=[2 1 -5 1;1 -3 0 -6;0 2 -1 2;1 4 -7 6]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&gt;&gt;P=inv(M) 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M*P </a:t>
            </a:r>
            <a:r>
              <a:rPr lang="ru-RU" sz="2400" smtClean="0"/>
              <a:t>%проверка </a:t>
            </a:r>
            <a:r>
              <a:rPr lang="en-US" sz="2400" smtClean="0"/>
              <a:t>M*P</a:t>
            </a:r>
            <a:r>
              <a:rPr lang="ru-RU" sz="2400" smtClean="0"/>
              <a:t>=Е</a:t>
            </a:r>
          </a:p>
          <a:p>
            <a:pPr>
              <a:buFont typeface="Arial" charset="0"/>
              <a:buNone/>
            </a:pP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dirty="0" err="1" smtClean="0"/>
              <a:t>linsolve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A,b</a:t>
            </a:r>
            <a:r>
              <a:rPr lang="en-US" sz="2400" dirty="0" smtClean="0"/>
              <a:t>) - p</a:t>
            </a:r>
            <a:r>
              <a:rPr lang="ru-RU" sz="2400" dirty="0" err="1" smtClean="0"/>
              <a:t>ешение</a:t>
            </a:r>
            <a:r>
              <a:rPr lang="ru-RU" sz="2400" dirty="0" smtClean="0"/>
              <a:t> системы линейных уравнений </a:t>
            </a:r>
            <a:r>
              <a:rPr lang="en-US" sz="2400" dirty="0" smtClean="0"/>
              <a:t>A*x=b, </a:t>
            </a:r>
            <a:r>
              <a:rPr lang="ru-RU" sz="2400" dirty="0" smtClean="0"/>
              <a:t>вызов в формате</a:t>
            </a:r>
            <a:r>
              <a:rPr lang="en-US" sz="2400" dirty="0" smtClean="0"/>
              <a:t>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A,b,options</a:t>
            </a:r>
            <a:r>
              <a:rPr lang="en-US" sz="2400" dirty="0" smtClean="0"/>
              <a:t>)</a:t>
            </a:r>
            <a:r>
              <a:rPr lang="ru-RU" sz="2400" dirty="0" smtClean="0"/>
              <a:t> позволяет задать метод решения уравнения. Если задать функцию в виде </a:t>
            </a:r>
            <a:r>
              <a:rPr lang="en-US" sz="2400" dirty="0" smtClean="0"/>
              <a:t>[</a:t>
            </a:r>
            <a:r>
              <a:rPr lang="en-US" sz="2400" dirty="0" err="1" smtClean="0"/>
              <a:t>x,r</a:t>
            </a:r>
            <a:r>
              <a:rPr lang="en-US" sz="2400" smtClean="0"/>
              <a:t>]=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</a:t>
            </a:r>
            <a:r>
              <a:rPr lang="en-US" sz="2400" dirty="0" smtClean="0"/>
              <a:t>)</a:t>
            </a:r>
            <a:r>
              <a:rPr lang="ru-RU" sz="2400" dirty="0" smtClean="0"/>
              <a:t>, то она вернёт </a:t>
            </a:r>
            <a:r>
              <a:rPr lang="ru-RU" sz="2400" dirty="0" err="1" smtClean="0"/>
              <a:t>х</a:t>
            </a:r>
            <a:r>
              <a:rPr lang="ru-RU" sz="2400" dirty="0" smtClean="0"/>
              <a:t> – решение системы и  </a:t>
            </a:r>
            <a:r>
              <a:rPr lang="en-US" sz="2400" dirty="0" smtClean="0"/>
              <a:t>r </a:t>
            </a:r>
            <a:r>
              <a:rPr lang="ru-RU" sz="2400" dirty="0" smtClean="0"/>
              <a:t>- ранг матрицы А;</a:t>
            </a:r>
          </a:p>
          <a:p>
            <a:pPr>
              <a:buFont typeface="Arial" charset="0"/>
              <a:buNone/>
            </a:pPr>
            <a:r>
              <a:rPr lang="ru-RU" sz="2400" dirty="0" smtClean="0"/>
              <a:t>В случае, когда для решения линейной системы используется знак \ , т.е.</a:t>
            </a:r>
            <a:r>
              <a:rPr lang="en-US" sz="2400" dirty="0" smtClean="0"/>
              <a:t> X=A\b</a:t>
            </a:r>
            <a:r>
              <a:rPr lang="ru-RU" sz="2400" dirty="0" smtClean="0"/>
              <a:t> , выбор метода остаётся за МАТ</a:t>
            </a:r>
            <a:r>
              <a:rPr lang="en-US" sz="2400" dirty="0" smtClean="0"/>
              <a:t>L</a:t>
            </a:r>
            <a:r>
              <a:rPr lang="ru-RU" sz="2400" dirty="0" smtClean="0"/>
              <a:t> АВ.</a:t>
            </a: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&gt;&gt; A=[1 2 3;-2 -4 -6]; b=[5;6]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&gt;&gt;x=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</a:t>
            </a:r>
            <a:r>
              <a:rPr lang="en-US" sz="2400" dirty="0" smtClean="0"/>
              <a:t>)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&gt;&gt;A*x %</a:t>
            </a:r>
            <a:r>
              <a:rPr lang="ru-RU" sz="2400" dirty="0" smtClean="0"/>
              <a:t>проверка – решение не верно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 [</a:t>
            </a:r>
            <a:r>
              <a:rPr lang="en-US" sz="2400" dirty="0" err="1" smtClean="0"/>
              <a:t>x,r</a:t>
            </a:r>
            <a:r>
              <a:rPr lang="en-US" sz="2400" dirty="0" smtClean="0"/>
              <a:t>]=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</a:t>
            </a:r>
            <a:r>
              <a:rPr lang="en-US" sz="2400" dirty="0" smtClean="0"/>
              <a:t>)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&gt;&gt; A=[2 -1 1;3 2 -5;1 3 -2]; b=[0;1;4]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&gt;&gt;x=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</a:t>
            </a:r>
            <a:r>
              <a:rPr lang="en-US" sz="2400" dirty="0" smtClean="0"/>
              <a:t>); &gt;&gt;A*x </a:t>
            </a:r>
            <a:r>
              <a:rPr lang="ru-RU" sz="2400" dirty="0" smtClean="0"/>
              <a:t>% проверка – решение верно</a:t>
            </a:r>
            <a:r>
              <a:rPr lang="en-US" sz="2400" dirty="0" smtClean="0"/>
              <a:t> 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 [</a:t>
            </a:r>
            <a:r>
              <a:rPr lang="en-US" sz="2400" dirty="0" err="1" smtClean="0"/>
              <a:t>x,r</a:t>
            </a:r>
            <a:r>
              <a:rPr lang="en-US" sz="2400" dirty="0" smtClean="0"/>
              <a:t>]= </a:t>
            </a:r>
            <a:r>
              <a:rPr lang="en-US" sz="2400" dirty="0" err="1" smtClean="0"/>
              <a:t>linsolve</a:t>
            </a:r>
            <a:r>
              <a:rPr lang="en-US" sz="2400" dirty="0" smtClean="0"/>
              <a:t>(</a:t>
            </a:r>
            <a:r>
              <a:rPr lang="en-US" sz="2400" dirty="0" err="1" smtClean="0"/>
              <a:t>A,b</a:t>
            </a:r>
            <a:r>
              <a:rPr lang="en-US" sz="2400" dirty="0" smtClean="0"/>
              <a:t>)</a:t>
            </a: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rref(M)</a:t>
            </a:r>
            <a:r>
              <a:rPr lang="en-US" sz="2400" smtClean="0"/>
              <a:t> - </a:t>
            </a:r>
            <a:r>
              <a:rPr lang="ru-RU" sz="2400" smtClean="0"/>
              <a:t>осуществляет приведение матрицы М к треугольной форме, используя метод исключения Гаусса;</a:t>
            </a:r>
          </a:p>
          <a:p>
            <a:pPr>
              <a:buFont typeface="Arial" charset="0"/>
              <a:buNone/>
            </a:pP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</a:t>
            </a:r>
            <a:r>
              <a:rPr lang="ru-RU" sz="2400" smtClean="0"/>
              <a:t>%Решение системы уравнений методом Гаусса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A=[2 -1 1;3 2 -5;1 3 -2]; b=[0;1;4]</a:t>
            </a:r>
          </a:p>
          <a:p>
            <a:pPr>
              <a:buFont typeface="Arial" charset="0"/>
              <a:buNone/>
            </a:pPr>
            <a:r>
              <a:rPr lang="en-US" sz="2400" smtClean="0"/>
              <a:t>&gt;&gt; C= rref([A b])</a:t>
            </a:r>
            <a:r>
              <a:rPr lang="ru-RU" sz="2400" smtClean="0"/>
              <a:t> %приведение расширенной матрицы к треугольному виду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&gt;&gt;x=C(1:3,4:4)</a:t>
            </a:r>
            <a:r>
              <a:rPr lang="ru-RU" sz="2400" smtClean="0"/>
              <a:t> %выделение последнего столбца из матрицы – это решение системы уравнений</a:t>
            </a:r>
            <a:endParaRPr lang="en-US" sz="2400" smtClean="0"/>
          </a:p>
          <a:p>
            <a:pPr>
              <a:buFont typeface="Arial" charset="0"/>
              <a:buNone/>
            </a:pPr>
            <a:r>
              <a:rPr lang="en-US" sz="2400" smtClean="0"/>
              <a:t>&gt;&gt; A*x</a:t>
            </a:r>
            <a:r>
              <a:rPr lang="ru-RU" sz="2400" smtClean="0"/>
              <a:t> %проверка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dirty="0" err="1" smtClean="0"/>
              <a:t>chol</a:t>
            </a:r>
            <a:r>
              <a:rPr lang="en-US" sz="2400" b="1" dirty="0" smtClean="0"/>
              <a:t>(M)</a:t>
            </a:r>
            <a:r>
              <a:rPr lang="en-US" sz="2400" dirty="0" smtClean="0"/>
              <a:t> - </a:t>
            </a:r>
            <a:r>
              <a:rPr lang="ru-RU" sz="2400" dirty="0" smtClean="0"/>
              <a:t>вычисляет разложение по </a:t>
            </a:r>
            <a:r>
              <a:rPr lang="ru-RU" sz="2400" dirty="0" err="1" smtClean="0"/>
              <a:t>Холецкому</a:t>
            </a:r>
            <a:r>
              <a:rPr lang="ru-RU" sz="2400" dirty="0" smtClean="0"/>
              <a:t> для положительно определённой симметрической матрицы М;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 A=[10 1 1;2 10 1;2 2 10]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</a:t>
            </a:r>
            <a:r>
              <a:rPr lang="en-US" sz="2400" dirty="0" err="1" smtClean="0"/>
              <a:t>chol</a:t>
            </a:r>
            <a:r>
              <a:rPr lang="en-US" sz="2400" dirty="0" smtClean="0"/>
              <a:t>(A) 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&gt;&gt; A = [1 2;1 1]</a:t>
            </a:r>
            <a:r>
              <a:rPr lang="ru-RU" sz="2400" dirty="0" smtClean="0"/>
              <a:t> %матрица не симметрическая</a:t>
            </a:r>
            <a:endParaRPr lang="en-US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&gt;&gt;</a:t>
            </a:r>
            <a:r>
              <a:rPr lang="en-US" sz="2400" dirty="0" err="1" smtClean="0"/>
              <a:t>chol</a:t>
            </a:r>
            <a:r>
              <a:rPr lang="en-US" sz="2400" dirty="0" smtClean="0"/>
              <a:t>(A) </a:t>
            </a:r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&gt;&gt; A = [</a:t>
            </a:r>
            <a:r>
              <a:rPr lang="ru-RU" sz="2400" dirty="0" smtClean="0"/>
              <a:t>3 1 -1 2;-5 1 3 -4;2 0 1 -1; 1 -5 3 -3</a:t>
            </a:r>
            <a:r>
              <a:rPr lang="en-US" sz="2400" dirty="0" smtClean="0"/>
              <a:t>]</a:t>
            </a:r>
            <a:r>
              <a:rPr lang="ru-RU" sz="2400" dirty="0" smtClean="0"/>
              <a:t> %матрица содержит отрицательные элементы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&gt;&gt;</a:t>
            </a:r>
            <a:r>
              <a:rPr lang="en-US" sz="2400" dirty="0" err="1" smtClean="0"/>
              <a:t>chol</a:t>
            </a:r>
            <a:r>
              <a:rPr lang="en-US" sz="2400" dirty="0" smtClean="0"/>
              <a:t>(A) </a:t>
            </a:r>
          </a:p>
          <a:p>
            <a:pPr>
              <a:buFont typeface="Arial" charset="0"/>
              <a:buNone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/>
          </p:cNvSpPr>
          <p:nvPr>
            <p:ph type="body" idx="1"/>
          </p:nvPr>
        </p:nvSpPr>
        <p:spPr>
          <a:xfrm>
            <a:off x="428625" y="357188"/>
            <a:ext cx="8229600" cy="62865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smtClean="0"/>
              <a:t>lu(M)</a:t>
            </a:r>
            <a:r>
              <a:rPr lang="en-US" sz="2400" smtClean="0"/>
              <a:t> – </a:t>
            </a:r>
            <a:r>
              <a:rPr lang="ru-RU" sz="2400" smtClean="0"/>
              <a:t>выполняет </a:t>
            </a:r>
            <a:r>
              <a:rPr lang="en-US" sz="2400" b="1" smtClean="0"/>
              <a:t>LU</a:t>
            </a:r>
            <a:r>
              <a:rPr lang="ru-RU" sz="2400" smtClean="0"/>
              <a:t>- разложение, возращает две матрицы:  нижнюю треугольную</a:t>
            </a:r>
            <a:r>
              <a:rPr lang="en-US" sz="2400" smtClean="0"/>
              <a:t> </a:t>
            </a:r>
            <a:r>
              <a:rPr lang="en-US" sz="2400" b="1" smtClean="0"/>
              <a:t>L </a:t>
            </a:r>
            <a:r>
              <a:rPr lang="ru-RU" sz="2400" smtClean="0"/>
              <a:t>и</a:t>
            </a:r>
            <a:r>
              <a:rPr lang="ru-RU" sz="2400" b="1" smtClean="0"/>
              <a:t> </a:t>
            </a:r>
            <a:r>
              <a:rPr lang="ru-RU" sz="2400" smtClean="0"/>
              <a:t>верхнюю треугольную </a:t>
            </a:r>
            <a:r>
              <a:rPr lang="en-US" sz="2400" b="1" smtClean="0"/>
              <a:t>U</a:t>
            </a:r>
            <a:r>
              <a:rPr lang="ru-RU" sz="2400" b="1" smtClean="0"/>
              <a:t>;</a:t>
            </a:r>
            <a:endParaRPr lang="en-US" sz="2400" b="1" smtClean="0"/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qr(M)</a:t>
            </a:r>
            <a:r>
              <a:rPr lang="ru-RU" sz="2400" b="1" smtClean="0"/>
              <a:t> – </a:t>
            </a:r>
            <a:r>
              <a:rPr lang="ru-RU" sz="2400" smtClean="0"/>
              <a:t>выполняет </a:t>
            </a:r>
            <a:r>
              <a:rPr lang="en-US" sz="2400" b="1" smtClean="0"/>
              <a:t> QR</a:t>
            </a:r>
            <a:r>
              <a:rPr lang="ru-RU" sz="2400" b="1" smtClean="0"/>
              <a:t> – </a:t>
            </a:r>
            <a:r>
              <a:rPr lang="ru-RU" sz="2400" smtClean="0"/>
              <a:t>разложение, возвращает ортогональную матрицу </a:t>
            </a:r>
            <a:r>
              <a:rPr lang="en-US" sz="2400" b="1" smtClean="0"/>
              <a:t>Q</a:t>
            </a:r>
            <a:r>
              <a:rPr lang="en-US" sz="2400" b="1" i="1" smtClean="0"/>
              <a:t> </a:t>
            </a:r>
            <a:r>
              <a:rPr lang="ru-RU" sz="2400" b="1" i="1" smtClean="0"/>
              <a:t> </a:t>
            </a:r>
            <a:r>
              <a:rPr lang="ru-RU" sz="2400" smtClean="0"/>
              <a:t>и верхнюю треугольную </a:t>
            </a:r>
            <a:r>
              <a:rPr lang="en-US" sz="2400" b="1" smtClean="0"/>
              <a:t>R</a:t>
            </a:r>
            <a:r>
              <a:rPr lang="ru-RU" sz="2400" i="1" smtClean="0"/>
              <a:t>; </a:t>
            </a:r>
            <a:r>
              <a:rPr lang="ru-RU" sz="2400" smtClean="0"/>
              <a:t>Ортогональная матрица обладает свойством </a:t>
            </a:r>
            <a:r>
              <a:rPr lang="en-US" sz="2400" smtClean="0"/>
              <a:t>Q </a:t>
            </a:r>
            <a:r>
              <a:rPr lang="ru-RU" sz="2400" baseline="30000" smtClean="0"/>
              <a:t>т</a:t>
            </a:r>
            <a:r>
              <a:rPr lang="ru-RU" sz="2400" smtClean="0"/>
              <a:t> = </a:t>
            </a:r>
            <a:r>
              <a:rPr lang="en-US" sz="2400" smtClean="0"/>
              <a:t>Q</a:t>
            </a:r>
            <a:r>
              <a:rPr lang="ru-RU" sz="2400" baseline="30000" smtClean="0"/>
              <a:t>-1</a:t>
            </a:r>
            <a:r>
              <a:rPr lang="ru-RU" sz="2400" smtClean="0"/>
              <a:t>.</a:t>
            </a:r>
            <a:r>
              <a:rPr lang="en-US" sz="2400" smtClean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400" b="1" smtClean="0"/>
              <a:t>realmin </a:t>
            </a:r>
            <a:r>
              <a:rPr lang="ru-RU" sz="2400" smtClean="0"/>
              <a:t>и</a:t>
            </a:r>
            <a:r>
              <a:rPr lang="ru-RU" sz="2400" b="1" smtClean="0"/>
              <a:t> </a:t>
            </a:r>
            <a:r>
              <a:rPr lang="en-US" sz="2400" b="1" smtClean="0"/>
              <a:t>realmax</a:t>
            </a:r>
            <a:r>
              <a:rPr lang="ru-RU" sz="2400" b="1" smtClean="0"/>
              <a:t> </a:t>
            </a:r>
            <a:r>
              <a:rPr lang="ru-RU" sz="2400" smtClean="0"/>
              <a:t>– выводят соответственно минимально (после нуля) и максимально возможные числа.</a:t>
            </a:r>
            <a:r>
              <a:rPr lang="en-US" sz="2400" smtClean="0"/>
              <a:t> </a:t>
            </a:r>
            <a:endParaRPr lang="ru-RU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20080"/>
          </a:xfrm>
        </p:spPr>
        <p:txBody>
          <a:bodyPr/>
          <a:lstStyle/>
          <a:p>
            <a:r>
              <a:rPr lang="ru-RU" sz="2400" b="1" dirty="0" smtClean="0"/>
              <a:t>Решение СЛАУ средствами символьной математики </a:t>
            </a:r>
            <a:r>
              <a:rPr lang="en-US" sz="2400" b="1" dirty="0" smtClean="0"/>
              <a:t>MATLAB </a:t>
            </a:r>
            <a:r>
              <a:rPr lang="ru-RU" sz="2400" dirty="0" smtClean="0"/>
              <a:t/>
            </a:r>
            <a:br>
              <a:rPr lang="ru-RU" sz="2400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>
              <a:buNone/>
            </a:pPr>
            <a:r>
              <a:rPr lang="ru-RU" sz="2400" dirty="0" smtClean="0"/>
              <a:t>Найти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3</a:t>
            </a:r>
            <a:r>
              <a:rPr lang="ru-RU" sz="2400" dirty="0" smtClean="0"/>
              <a:t>,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4</a:t>
            </a:r>
            <a:r>
              <a:rPr lang="ru-RU" sz="2400" dirty="0" smtClean="0"/>
              <a:t> и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5  </a:t>
            </a:r>
            <a:r>
              <a:rPr lang="ru-RU" sz="2400" dirty="0" smtClean="0"/>
              <a:t>как функции от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1</a:t>
            </a:r>
            <a:r>
              <a:rPr lang="ru-RU" sz="2400" dirty="0" smtClean="0"/>
              <a:t> и </a:t>
            </a:r>
            <a:r>
              <a:rPr lang="en-US" sz="2400" dirty="0" smtClean="0"/>
              <a:t>R</a:t>
            </a:r>
            <a:r>
              <a:rPr lang="ru-RU" sz="2400" baseline="-25000" dirty="0" smtClean="0"/>
              <a:t>2.</a:t>
            </a:r>
            <a:endParaRPr lang="ru-RU" sz="2400" dirty="0" smtClean="0"/>
          </a:p>
          <a:p>
            <a:pPr>
              <a:buNone/>
            </a:pPr>
            <a:r>
              <a:rPr lang="ru-RU" sz="2400" i="1" baseline="-25000" dirty="0" smtClean="0"/>
              <a:t> </a:t>
            </a:r>
            <a:endParaRPr lang="ru-RU" sz="2400" dirty="0" smtClean="0"/>
          </a:p>
          <a:p>
            <a:pPr>
              <a:buNone/>
            </a:pPr>
            <a:r>
              <a:rPr lang="en-US" sz="2400" dirty="0" err="1" smtClean="0"/>
              <a:t>syms</a:t>
            </a:r>
            <a:r>
              <a:rPr lang="ru-RU" sz="2400" dirty="0" smtClean="0"/>
              <a:t>   </a:t>
            </a:r>
            <a:r>
              <a:rPr lang="en-US" sz="2400" dirty="0" smtClean="0"/>
              <a:t>R</a:t>
            </a:r>
            <a:r>
              <a:rPr lang="ru-RU" sz="2400" dirty="0" smtClean="0"/>
              <a:t>1 </a:t>
            </a:r>
            <a:r>
              <a:rPr lang="en-US" sz="2400" dirty="0" smtClean="0"/>
              <a:t>R</a:t>
            </a:r>
            <a:r>
              <a:rPr lang="ru-RU" sz="2400" dirty="0" smtClean="0"/>
              <a:t>2 </a:t>
            </a:r>
            <a:r>
              <a:rPr lang="en-US" sz="2400" dirty="0" smtClean="0"/>
              <a:t>R</a:t>
            </a:r>
            <a:r>
              <a:rPr lang="ru-RU" sz="2400" dirty="0" smtClean="0"/>
              <a:t>3 </a:t>
            </a:r>
            <a:r>
              <a:rPr lang="en-US" sz="2400" dirty="0" smtClean="0"/>
              <a:t>R</a:t>
            </a:r>
            <a:r>
              <a:rPr lang="ru-RU" sz="2400" dirty="0" smtClean="0"/>
              <a:t>4 </a:t>
            </a:r>
            <a:r>
              <a:rPr lang="en-US" sz="2400" dirty="0" smtClean="0"/>
              <a:t>R</a:t>
            </a:r>
            <a:r>
              <a:rPr lang="ru-RU" sz="2400" dirty="0" smtClean="0"/>
              <a:t>5</a:t>
            </a:r>
          </a:p>
          <a:p>
            <a:pPr>
              <a:buNone/>
            </a:pPr>
            <a:r>
              <a:rPr lang="en-US" sz="2400" dirty="0" err="1" smtClean="0"/>
              <a:t>eqns</a:t>
            </a:r>
            <a:r>
              <a:rPr lang="en-US" sz="2400" dirty="0" smtClean="0"/>
              <a:t> = [R1+R3+R4 == 0,  2*R2+4*R3+2*R5 == 0,  R1+R3+2*R4+R5 == 0]</a:t>
            </a:r>
            <a:endParaRPr lang="ru-RU" sz="2400" dirty="0" smtClean="0"/>
          </a:p>
          <a:p>
            <a:pPr>
              <a:buNone/>
            </a:pPr>
            <a:r>
              <a:rPr lang="en-US" sz="2400" dirty="0" err="1" smtClean="0"/>
              <a:t>vars</a:t>
            </a:r>
            <a:r>
              <a:rPr lang="en-US" sz="2400" dirty="0" smtClean="0"/>
              <a:t> = [R3, R4, R5]</a:t>
            </a:r>
            <a:endParaRPr lang="ru-RU" sz="2400" dirty="0" smtClean="0"/>
          </a:p>
          <a:p>
            <a:pPr>
              <a:buNone/>
            </a:pPr>
            <a:r>
              <a:rPr lang="en-US" sz="2400" dirty="0" smtClean="0"/>
              <a:t>[SR3, SR4, SR5] = solve (</a:t>
            </a:r>
            <a:r>
              <a:rPr lang="en-US" sz="2400" dirty="0" err="1" smtClean="0"/>
              <a:t>eqns</a:t>
            </a:r>
            <a:r>
              <a:rPr lang="en-US" sz="2400" dirty="0" smtClean="0"/>
              <a:t>, </a:t>
            </a:r>
            <a:r>
              <a:rPr lang="en-US" sz="2400" dirty="0" err="1" smtClean="0"/>
              <a:t>vars</a:t>
            </a:r>
            <a:r>
              <a:rPr lang="en-US" sz="2400" dirty="0" smtClean="0"/>
              <a:t>) 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Результат:  </a:t>
            </a:r>
            <a:r>
              <a:rPr lang="en-US" sz="2400" dirty="0" smtClean="0"/>
              <a:t>SR</a:t>
            </a:r>
            <a:r>
              <a:rPr lang="ru-RU" sz="2400" dirty="0" smtClean="0"/>
              <a:t>3 =  - </a:t>
            </a:r>
            <a:r>
              <a:rPr lang="en-US" sz="2400" dirty="0" smtClean="0"/>
              <a:t>R</a:t>
            </a:r>
            <a:r>
              <a:rPr lang="ru-RU" sz="2400" dirty="0" smtClean="0"/>
              <a:t>1/3 - </a:t>
            </a:r>
            <a:r>
              <a:rPr lang="en-US" sz="2400" dirty="0" smtClean="0"/>
              <a:t>R</a:t>
            </a:r>
            <a:r>
              <a:rPr lang="ru-RU" sz="2400" dirty="0" smtClean="0"/>
              <a:t>2/3</a:t>
            </a:r>
          </a:p>
          <a:p>
            <a:pPr>
              <a:buNone/>
            </a:pPr>
            <a:r>
              <a:rPr lang="ru-RU" sz="2400" dirty="0" smtClean="0"/>
              <a:t>                     </a:t>
            </a:r>
            <a:r>
              <a:rPr lang="en-US" sz="2400" dirty="0" smtClean="0"/>
              <a:t>SR</a:t>
            </a:r>
            <a:r>
              <a:rPr lang="ru-RU" sz="2400" dirty="0" smtClean="0"/>
              <a:t>4 = </a:t>
            </a:r>
            <a:r>
              <a:rPr lang="en-US" sz="2400" dirty="0" smtClean="0"/>
              <a:t>R2/3 - (2*R1)/3</a:t>
            </a:r>
            <a:endParaRPr lang="ru-RU" sz="2400" dirty="0" smtClean="0"/>
          </a:p>
          <a:p>
            <a:pPr>
              <a:buNone/>
            </a:pPr>
            <a:r>
              <a:rPr lang="en-US" sz="2400" dirty="0" smtClean="0"/>
              <a:t> </a:t>
            </a:r>
            <a:r>
              <a:rPr lang="ru-RU" sz="2400" dirty="0" smtClean="0"/>
              <a:t>                    </a:t>
            </a:r>
            <a:r>
              <a:rPr lang="en-US" sz="2400" dirty="0" smtClean="0"/>
              <a:t>SR5 = (2*R1)/3 - R2/3</a:t>
            </a:r>
            <a:endParaRPr lang="ru-RU" sz="2400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5" y="0"/>
            <a:ext cx="89725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325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214313"/>
            <a:ext cx="7858125" cy="553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  <a:p>
            <a:pPr marL="457200" indent="-457200">
              <a:buFont typeface="Arial" charset="0"/>
              <a:buNone/>
            </a:pPr>
            <a:endParaRPr lang="ru-RU" sz="2400" smtClean="0"/>
          </a:p>
          <a:p>
            <a:pPr marL="457200" indent="-457200">
              <a:buFont typeface="Arial" charset="0"/>
              <a:buNone/>
            </a:pPr>
            <a:endParaRPr lang="ru-RU" sz="2400" smtClean="0"/>
          </a:p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163" y="0"/>
            <a:ext cx="9113837" cy="129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500" y="952500"/>
            <a:ext cx="5524500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529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196850"/>
            <a:ext cx="8001000" cy="666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sz="2400" dirty="0" smtClean="0"/>
              <a:t>% Решим систему, используя </a:t>
            </a:r>
            <a:r>
              <a:rPr lang="en-AU" sz="2400" dirty="0" smtClean="0"/>
              <a:t>LU-</a:t>
            </a:r>
            <a:r>
              <a:rPr lang="ru-RU" sz="2400" dirty="0" smtClean="0"/>
              <a:t>разложение</a:t>
            </a:r>
          </a:p>
          <a:p>
            <a:pPr>
              <a:buFont typeface="Arial" charset="0"/>
              <a:buNone/>
              <a:defRPr/>
            </a:pPr>
            <a:r>
              <a:rPr lang="en-AU" sz="2400" dirty="0" smtClean="0"/>
              <a:t>[L1,U] = </a:t>
            </a:r>
            <a:r>
              <a:rPr lang="en-AU" sz="2400" dirty="0" err="1" smtClean="0"/>
              <a:t>lu</a:t>
            </a:r>
            <a:r>
              <a:rPr lang="en-AU" sz="2400" dirty="0" smtClean="0"/>
              <a:t>(A)</a:t>
            </a:r>
          </a:p>
          <a:p>
            <a:pPr>
              <a:buFont typeface="Arial" charset="0"/>
              <a:buNone/>
              <a:defRPr/>
            </a:pPr>
            <a:r>
              <a:rPr lang="en-AU" sz="2400" dirty="0" smtClean="0"/>
              <a:t>y = L1\b</a:t>
            </a:r>
          </a:p>
          <a:p>
            <a:pPr>
              <a:buFont typeface="Arial" charset="0"/>
              <a:buNone/>
              <a:defRPr/>
            </a:pPr>
            <a:r>
              <a:rPr lang="en-AU" sz="2400" dirty="0" smtClean="0"/>
              <a:t>x = U\y</a:t>
            </a:r>
          </a:p>
          <a:p>
            <a:pPr>
              <a:buFont typeface="Arial" charset="0"/>
              <a:buNone/>
              <a:defRPr/>
            </a:pPr>
            <a:r>
              <a:rPr lang="ru-RU" sz="2400" dirty="0" smtClean="0"/>
              <a:t> </a:t>
            </a:r>
          </a:p>
          <a:p>
            <a:pPr>
              <a:buFont typeface="Arial" charset="0"/>
              <a:buNone/>
              <a:defRPr/>
            </a:pPr>
            <a:r>
              <a:rPr lang="ru-RU" sz="2400" dirty="0" smtClean="0"/>
              <a:t>[L2,U,P] = </a:t>
            </a:r>
            <a:r>
              <a:rPr lang="ru-RU" sz="2400" dirty="0" err="1" smtClean="0"/>
              <a:t>lu</a:t>
            </a:r>
            <a:r>
              <a:rPr lang="ru-RU" sz="2400" dirty="0" smtClean="0"/>
              <a:t>(A)</a:t>
            </a:r>
            <a:r>
              <a:rPr lang="en-US" sz="2400" dirty="0" smtClean="0"/>
              <a:t>     </a:t>
            </a:r>
            <a:r>
              <a:rPr lang="ru-RU" sz="2400" dirty="0" smtClean="0"/>
              <a:t> % где Р - матрица перестановок</a:t>
            </a:r>
          </a:p>
          <a:p>
            <a:pPr>
              <a:buFont typeface="Arial" charset="0"/>
              <a:buNone/>
              <a:defRPr/>
            </a:pPr>
            <a:r>
              <a:rPr lang="en-AU" sz="2400" dirty="0" smtClean="0"/>
              <a:t>L2 = P*L1</a:t>
            </a:r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734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53415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038" y="2492375"/>
            <a:ext cx="5795962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5295900"/>
            <a:ext cx="7038975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285750"/>
            <a:ext cx="8178800" cy="608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214313"/>
            <a:ext cx="7011988" cy="607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r>
              <a:rPr lang="ru-RU" sz="2400" smtClean="0"/>
              <a:t>   </a:t>
            </a:r>
            <a:r>
              <a:rPr lang="ru-RU" sz="2400" b="1" smtClean="0"/>
              <a:t>Пример 3.</a:t>
            </a:r>
          </a:p>
          <a:p>
            <a:pPr marL="457200" indent="-457200">
              <a:buFont typeface="Arial" charset="0"/>
              <a:buNone/>
            </a:pPr>
            <a:endParaRPr lang="ru-RU" sz="2400" b="1" smtClean="0"/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38" y="785813"/>
            <a:ext cx="6953250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6144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60350"/>
            <a:ext cx="685800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4357688"/>
            <a:ext cx="1571625" cy="143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323850" y="549275"/>
            <a:ext cx="431800" cy="358775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1446" name="Прямоугольник 6"/>
          <p:cNvSpPr>
            <a:spLocks noChangeArrowheads="1"/>
          </p:cNvSpPr>
          <p:nvPr/>
        </p:nvSpPr>
        <p:spPr bwMode="auto">
          <a:xfrm>
            <a:off x="4351338" y="3244850"/>
            <a:ext cx="4413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b1</a:t>
            </a:r>
            <a:endParaRPr lang="ru-RU"/>
          </a:p>
        </p:txBody>
      </p:sp>
      <p:pic>
        <p:nvPicPr>
          <p:cNvPr id="6144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650" y="260350"/>
            <a:ext cx="28733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8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4075" y="2060575"/>
            <a:ext cx="328613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9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08625" y="2060575"/>
            <a:ext cx="34448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 marL="457200" indent="-457200">
              <a:buFont typeface="Arial" charset="0"/>
              <a:buNone/>
            </a:pPr>
            <a:endParaRPr lang="ru-RU" sz="2400" smtClean="0"/>
          </a:p>
        </p:txBody>
      </p:sp>
      <p:pic>
        <p:nvPicPr>
          <p:cNvPr id="6246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14313"/>
            <a:ext cx="678180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ru-RU" sz="2400" b="1" dirty="0" smtClean="0"/>
              <a:t>Задания.</a:t>
            </a: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ru-RU" sz="2400" dirty="0" smtClean="0"/>
              <a:t>Решить  СЛАУ</a:t>
            </a:r>
          </a:p>
          <a:p>
            <a:pPr marL="457200" indent="-457200">
              <a:buFont typeface="Arial" charset="0"/>
              <a:buAutoNum type="arabicPeriod"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AutoNum type="arabicPeriod"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r>
              <a:rPr lang="ru-RU" sz="2400" dirty="0" smtClean="0"/>
              <a:t>Определить обусловленность матрицы коэффициентов.</a:t>
            </a:r>
          </a:p>
          <a:p>
            <a:pPr marL="457200" indent="-457200">
              <a:buNone/>
              <a:defRPr/>
            </a:pPr>
            <a:r>
              <a:rPr lang="ru-RU" sz="2400" dirty="0" smtClean="0"/>
              <a:t>Проверить точность решения системы уравнений.  </a:t>
            </a:r>
          </a:p>
          <a:p>
            <a:pPr marL="457200" indent="-457200">
              <a:buFont typeface="Arial" charset="0"/>
              <a:buNone/>
              <a:defRPr/>
            </a:pPr>
            <a:r>
              <a:rPr lang="ru-RU" sz="2400" dirty="0" smtClean="0"/>
              <a:t>2.</a:t>
            </a:r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None/>
              <a:defRPr/>
            </a:pPr>
            <a:r>
              <a:rPr lang="ru-RU" sz="2400" dirty="0" smtClean="0"/>
              <a:t>Определить обусловленность матрицы коэффициентов.</a:t>
            </a:r>
          </a:p>
          <a:p>
            <a:pPr marL="457200" indent="-457200">
              <a:buFont typeface="Arial" charset="0"/>
              <a:buNone/>
              <a:defRPr/>
            </a:pPr>
            <a:r>
              <a:rPr lang="ru-RU" sz="2400" dirty="0" smtClean="0"/>
              <a:t>Проверить точность решения системы уравнений.  </a:t>
            </a:r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None/>
              <a:defRPr/>
            </a:pPr>
            <a:endParaRPr lang="ru-RU" sz="2400" dirty="0" smtClean="0"/>
          </a:p>
          <a:p>
            <a:pPr marL="457200" indent="-457200">
              <a:buFont typeface="Arial" charset="0"/>
              <a:buAutoNum type="arabicPeriod"/>
              <a:defRPr/>
            </a:pPr>
            <a:endParaRPr lang="ru-RU" sz="2400" dirty="0" smtClean="0"/>
          </a:p>
        </p:txBody>
      </p:sp>
      <p:pic>
        <p:nvPicPr>
          <p:cNvPr id="63491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75" y="714375"/>
            <a:ext cx="59626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3429000"/>
            <a:ext cx="778192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3861048"/>
            <a:ext cx="3476625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ru-RU" sz="2400" dirty="0" smtClean="0"/>
              <a:t>3. Решить СЛАУ</a:t>
            </a: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>
              <a:buNone/>
            </a:pPr>
            <a:r>
              <a:rPr lang="ru-RU" sz="2400" dirty="0" smtClean="0"/>
              <a:t>Определить обусловленность матрицы коэффициентов.</a:t>
            </a:r>
          </a:p>
          <a:p>
            <a:pPr>
              <a:buFont typeface="Arial" charset="0"/>
              <a:buNone/>
            </a:pPr>
            <a:r>
              <a:rPr lang="ru-RU" sz="2400" dirty="0" smtClean="0"/>
              <a:t>Проверить точность решения системы уравнений.  </a:t>
            </a:r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  <a:p>
            <a:pPr>
              <a:buFont typeface="Arial" charset="0"/>
              <a:buNone/>
            </a:pPr>
            <a:endParaRPr lang="ru-RU" sz="2400" dirty="0" smtClean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813" y="714375"/>
            <a:ext cx="70104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ru-RU" sz="3200" b="1" smtClean="0"/>
              <a:t>Приложение</a:t>
            </a:r>
            <a:br>
              <a:rPr lang="ru-RU" sz="3200" b="1" smtClean="0"/>
            </a:br>
            <a:r>
              <a:rPr lang="ru-RU" sz="3200" b="1" smtClean="0"/>
              <a:t/>
            </a:r>
            <a:br>
              <a:rPr lang="ru-RU" sz="3200" b="1" smtClean="0"/>
            </a:br>
            <a:r>
              <a:rPr lang="ru-RU" sz="2400" b="1" smtClean="0"/>
              <a:t>Элементы матричной алгебры</a:t>
            </a:r>
          </a:p>
        </p:txBody>
      </p:sp>
      <p:pic>
        <p:nvPicPr>
          <p:cNvPr id="6553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5088" y="1357313"/>
            <a:ext cx="9078912" cy="5457825"/>
          </a:xfrm>
          <a:noFill/>
        </p:spPr>
      </p:pic>
      <p:pic>
        <p:nvPicPr>
          <p:cNvPr id="6554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163" y="1341438"/>
            <a:ext cx="43497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67625" y="1844675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2349500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3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378936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4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838" y="378936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5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378936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6" name="Picture 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938" y="6021388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7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157788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8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00563" y="5141913"/>
            <a:ext cx="287337" cy="11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6656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6656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905875" cy="4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5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2875" y="4941888"/>
            <a:ext cx="8653463" cy="191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7900" y="765175"/>
            <a:ext cx="24765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650" y="333375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260350"/>
            <a:ext cx="433388" cy="16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9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00338" y="1557338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725" y="2492375"/>
            <a:ext cx="2476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1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363" y="3573463"/>
            <a:ext cx="24765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2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4300" y="4221163"/>
            <a:ext cx="2476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7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250" y="5876925"/>
            <a:ext cx="288925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6758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14313"/>
            <a:ext cx="9001125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538" y="105251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7763" y="549275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2349500"/>
            <a:ext cx="24765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4460875"/>
            <a:ext cx="288925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3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8038" y="443706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3"/>
          <p:cNvSpPr>
            <a:spLocks noGrp="1"/>
          </p:cNvSpPr>
          <p:nvPr>
            <p:ph type="body" idx="1"/>
          </p:nvPr>
        </p:nvSpPr>
        <p:spPr>
          <a:xfrm>
            <a:off x="428625" y="333375"/>
            <a:ext cx="8229600" cy="6310313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686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7188"/>
            <a:ext cx="9144000" cy="202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3" y="2500313"/>
            <a:ext cx="9043987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8175" y="333375"/>
            <a:ext cx="24765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263" y="333375"/>
            <a:ext cx="247650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0113" y="692150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7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8888" y="692150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8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692150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9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8400" y="170021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20" name="Picture 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8175" y="1989138"/>
            <a:ext cx="247650" cy="166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696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225" y="260350"/>
            <a:ext cx="9166225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7063" y="981075"/>
            <a:ext cx="32543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5375" y="981075"/>
            <a:ext cx="649288" cy="16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0200" y="1052513"/>
            <a:ext cx="247650" cy="9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2488" y="981075"/>
            <a:ext cx="485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1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5600" y="981075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7900" y="2133600"/>
            <a:ext cx="431800" cy="16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9338" y="2565400"/>
            <a:ext cx="360362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92950" y="3284538"/>
            <a:ext cx="3587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175" y="4292600"/>
            <a:ext cx="288925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163" y="4292600"/>
            <a:ext cx="360362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7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5463" y="3860800"/>
            <a:ext cx="865187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8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0200" y="4724400"/>
            <a:ext cx="287338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4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913" y="1484313"/>
            <a:ext cx="287337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7900" y="5157788"/>
            <a:ext cx="288925" cy="13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1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3357563"/>
            <a:ext cx="288925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838" y="5589588"/>
            <a:ext cx="287337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9338" y="5589588"/>
            <a:ext cx="576262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363" y="260350"/>
            <a:ext cx="360362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5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333375"/>
            <a:ext cx="288925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smtClean="0"/>
          </a:p>
        </p:txBody>
      </p:sp>
      <p:sp>
        <p:nvSpPr>
          <p:cNvPr id="7065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4313"/>
            <a:ext cx="9144000" cy="552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1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463" y="188913"/>
            <a:ext cx="287337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2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363" y="549275"/>
            <a:ext cx="287337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25" y="549275"/>
            <a:ext cx="287338" cy="13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150" y="908050"/>
            <a:ext cx="288925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5163" y="3357563"/>
            <a:ext cx="115728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3860800"/>
            <a:ext cx="288925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7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4075" y="908050"/>
            <a:ext cx="287338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68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775" y="1557338"/>
            <a:ext cx="436563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/>
          <p:cNvSpPr>
            <a:spLocks noGrp="1"/>
          </p:cNvSpPr>
          <p:nvPr>
            <p:ph type="body" idx="1"/>
          </p:nvPr>
        </p:nvSpPr>
        <p:spPr>
          <a:xfrm>
            <a:off x="428625" y="214313"/>
            <a:ext cx="8229600" cy="6429375"/>
          </a:xfrm>
        </p:spPr>
        <p:txBody>
          <a:bodyPr/>
          <a:lstStyle/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endParaRPr lang="ru-RU" sz="2400" b="1" smtClean="0"/>
          </a:p>
          <a:p>
            <a:pPr>
              <a:buFont typeface="Arial" charset="0"/>
              <a:buNone/>
            </a:pPr>
            <a:r>
              <a:rPr lang="ru-RU" sz="2400" b="1" smtClean="0"/>
              <a:t>Задание</a:t>
            </a:r>
          </a:p>
          <a:p>
            <a:pPr>
              <a:buFont typeface="Arial" charset="0"/>
              <a:buNone/>
            </a:pPr>
            <a:r>
              <a:rPr lang="ru-RU" sz="2400" smtClean="0"/>
              <a:t>Найти матрицу, обратную к матрице А.</a:t>
            </a:r>
          </a:p>
          <a:p>
            <a:pPr>
              <a:buFont typeface="Arial" charset="0"/>
              <a:buNone/>
            </a:pPr>
            <a:r>
              <a:rPr lang="ru-RU" sz="2400" smtClean="0"/>
              <a:t>         </a:t>
            </a:r>
          </a:p>
        </p:txBody>
      </p:sp>
      <p:sp>
        <p:nvSpPr>
          <p:cNvPr id="716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7168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25" y="4000500"/>
            <a:ext cx="21161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14313"/>
            <a:ext cx="9144000" cy="219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938" y="1844675"/>
            <a:ext cx="287337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4474</TotalTime>
  <Words>2382</Words>
  <Application>Microsoft Office PowerPoint</Application>
  <PresentationFormat>Экран (4:3)</PresentationFormat>
  <Paragraphs>440</Paragraphs>
  <Slides>70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70</vt:i4>
      </vt:variant>
    </vt:vector>
  </HeadingPairs>
  <TitlesOfParts>
    <vt:vector size="73" baseType="lpstr">
      <vt:lpstr>Тема Office</vt:lpstr>
      <vt:lpstr>Формула</vt:lpstr>
      <vt:lpstr>Equation</vt:lpstr>
      <vt:lpstr>Решение систем конечных уравнений (СКУ)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Обусловленность СЛАУ  Число обусловленности матрицы</vt:lpstr>
      <vt:lpstr>Слайд 15</vt:lpstr>
      <vt:lpstr>Слайд 16</vt:lpstr>
      <vt:lpstr>Слайд 17</vt:lpstr>
      <vt:lpstr>Слайд 18</vt:lpstr>
      <vt:lpstr>Прямые методы решения СЛАУ</vt:lpstr>
      <vt:lpstr>Слайд 20</vt:lpstr>
      <vt:lpstr>Метод исключения Гаусса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  <vt:lpstr>Слайд 48</vt:lpstr>
      <vt:lpstr>Слайд 49</vt:lpstr>
      <vt:lpstr>Решение СЛАУ средствами символьной математики MATLAB  </vt:lpstr>
      <vt:lpstr>Слайд 51</vt:lpstr>
      <vt:lpstr>Слайд 52</vt:lpstr>
      <vt:lpstr>Слайд 53</vt:lpstr>
      <vt:lpstr>Слайд 54</vt:lpstr>
      <vt:lpstr>Слайд 55</vt:lpstr>
      <vt:lpstr>Слайд 56</vt:lpstr>
      <vt:lpstr>Слайд 57</vt:lpstr>
      <vt:lpstr>Слайд 58</vt:lpstr>
      <vt:lpstr>Слайд 59</vt:lpstr>
      <vt:lpstr>Слайд 60</vt:lpstr>
      <vt:lpstr>Слайд 61</vt:lpstr>
      <vt:lpstr>Слайд 62</vt:lpstr>
      <vt:lpstr>Слайд 63</vt:lpstr>
      <vt:lpstr>Приложение  Элементы матричной алгебры</vt:lpstr>
      <vt:lpstr>Слайд 65</vt:lpstr>
      <vt:lpstr>Слайд 66</vt:lpstr>
      <vt:lpstr>Слайд 67</vt:lpstr>
      <vt:lpstr>Слайд 68</vt:lpstr>
      <vt:lpstr>Слайд 69</vt:lpstr>
      <vt:lpstr>Слайд 70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компоненты MATLAB</dc:title>
  <dc:creator>Admin</dc:creator>
  <cp:lastModifiedBy>Пользователь Windows</cp:lastModifiedBy>
  <cp:revision>458</cp:revision>
  <dcterms:created xsi:type="dcterms:W3CDTF">2009-08-30T13:57:33Z</dcterms:created>
  <dcterms:modified xsi:type="dcterms:W3CDTF">2022-02-21T21:32:05Z</dcterms:modified>
</cp:coreProperties>
</file>