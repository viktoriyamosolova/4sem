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71" r:id="rId11"/>
    <p:sldId id="272" r:id="rId12"/>
    <p:sldId id="273" r:id="rId13"/>
    <p:sldId id="269" r:id="rId14"/>
    <p:sldId id="274" r:id="rId15"/>
    <p:sldId id="275" r:id="rId16"/>
    <p:sldId id="276" r:id="rId17"/>
    <p:sldId id="277" r:id="rId18"/>
    <p:sldId id="266" r:id="rId19"/>
    <p:sldId id="283" r:id="rId20"/>
    <p:sldId id="284" r:id="rId21"/>
    <p:sldId id="285" r:id="rId22"/>
    <p:sldId id="286" r:id="rId23"/>
    <p:sldId id="288" r:id="rId24"/>
    <p:sldId id="287" r:id="rId25"/>
    <p:sldId id="289" r:id="rId26"/>
    <p:sldId id="279" r:id="rId27"/>
    <p:sldId id="280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ktoriya Mosolova" initials="VM" lastIdx="1" clrIdx="0">
    <p:extLst>
      <p:ext uri="{19B8F6BF-5375-455C-9EA6-DF929625EA0E}">
        <p15:presenceInfo xmlns:p15="http://schemas.microsoft.com/office/powerpoint/2012/main" userId="d135d53a7b0a00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CEC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toriya Mosolova" userId="d135d53a7b0a002d" providerId="LiveId" clId="{58CEEDCD-9A0C-4952-A5B4-2770AA7CC534}"/>
    <pc:docChg chg="undo custSel modSld">
      <pc:chgData name="Viktoriya Mosolova" userId="d135d53a7b0a002d" providerId="LiveId" clId="{58CEEDCD-9A0C-4952-A5B4-2770AA7CC534}" dt="2023-05-09T16:52:49.048" v="54" actId="20577"/>
      <pc:docMkLst>
        <pc:docMk/>
      </pc:docMkLst>
      <pc:sldChg chg="modSp mod">
        <pc:chgData name="Viktoriya Mosolova" userId="d135d53a7b0a002d" providerId="LiveId" clId="{58CEEDCD-9A0C-4952-A5B4-2770AA7CC534}" dt="2023-05-09T16:52:49.048" v="54" actId="20577"/>
        <pc:sldMkLst>
          <pc:docMk/>
          <pc:sldMk cId="2949790914" sldId="279"/>
        </pc:sldMkLst>
        <pc:spChg chg="mod">
          <ac:chgData name="Viktoriya Mosolova" userId="d135d53a7b0a002d" providerId="LiveId" clId="{58CEEDCD-9A0C-4952-A5B4-2770AA7CC534}" dt="2023-05-09T16:52:49.048" v="54" actId="20577"/>
          <ac:spMkLst>
            <pc:docMk/>
            <pc:sldMk cId="2949790914" sldId="279"/>
            <ac:spMk id="2" creationId="{ABBD39C9-CF45-85FE-F46E-FDD82D75CA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CAF69-30EF-0AA7-C1C8-92DED62E7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231A84-4C71-9902-0F0D-8AB1B516D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702698-AF4D-CDAA-7957-693885E2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CB013C-894F-2B2B-DB8F-DF4A6A31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A7D0E0-4C50-1634-8AC6-E0D8138E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9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02E9E-3904-00A1-8278-5598EAFF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3240F3-EA54-5514-EB1D-14CF3F9FC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2C8739-084D-2F1F-E6D9-CD13C17F0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F49543-978B-43CF-07C1-9BF5213F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02598-FE34-2D25-857B-95858575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34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6E1CC-759D-C7CE-9A23-17E6F3457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A102F3-138E-BE52-F52F-7577E782A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BA2409-AB39-B38C-1800-3D9DB320B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3434D5-5FB2-5FC0-0B06-F21711EA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2D589E-4771-4667-3075-3AA027B4F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59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9E3A8-603B-9A73-0AEB-9B8A49E7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42B102-27B4-C524-186A-3DBB276DB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8E7A9B-1D0D-4F6F-472A-B9A71557A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FE92BA-D247-1B22-565B-C7F6BFD7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961C66-3B53-7D28-A74B-2BB612AA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6EE5EC-8B67-F963-A650-A41C508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960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39EEA-6298-1DA2-1692-A1FAF1456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3DCEAF-6A80-7A65-B2CC-82543C399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0F98A6-75BA-794D-0F97-463AEBB98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F070173-9FEC-AD68-11B7-78B9AE2FD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4550AA-3D96-13B3-E39D-DB5249E23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1D4650-1E36-256E-3983-7B54F702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E412D70-4265-1C31-A70E-FED0D11D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B017A9-A764-364F-18FB-05B04228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72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A8742-9A7E-C058-88C4-848C90B1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3E1B653-2498-9026-0C82-8EA03661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B2AD36-65DD-A9F7-DC35-9981D7D0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FC684B-8DB0-3951-B311-BB39799D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55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694CF17-3C9E-05AB-3523-9C33E643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DF0B1A1-BA4B-E3B2-6619-118BB2D9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393D7C-2E86-AE6C-65DE-7A5DF271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25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46795-4F08-7369-8051-A428B217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1FCBF3-72BB-444C-EC68-8610F9B9F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1AEF57-732B-7308-2703-011ACCE9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2854D1-E6D7-5EEF-2273-268803BF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963B5C-EA56-9C3A-A96B-D3DB0B1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39E44F-2FE9-37DB-0415-3DC2D9B7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17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A29F0-B8F1-D02C-8C4D-6A904BF7B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D4865F-204C-222A-9393-BF5F5FA2A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6A86DA-8057-B502-4316-43ECA211F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8F1B86-C88F-BC3E-1D2E-C5A7A566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326C23-CD83-AB0A-7569-03BDEB04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66F5FF-0FC6-F87A-BACC-5E998C02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51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E0E82-F225-5867-2754-D3F8AC32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90857-A52A-7EAF-CD6B-11120EDA1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E3120A-288F-B576-76B9-02E158CD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DB0A93-83A1-CE63-8F75-849A79B7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659328-A82D-77A7-0E09-38E098E9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64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05AE25-CC80-6672-4BB3-E39FB52A9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AF0F3C-7806-6830-F704-7495F7E91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3F0820-7A3E-E418-883C-22925E23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597738-5D17-4372-C081-2D693125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FDF3DF-0ADB-CF0D-64D2-5B24615F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92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467E4-7DBA-14BE-2BCD-51F8AEE6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525400-E1AF-7956-2841-F429F337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BD848-0DD5-ED1A-A55B-802228CE9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4D28D-7C36-458E-B07D-4F00307E5191}" type="datetimeFigureOut">
              <a:rPr lang="ru-RU" smtClean="0"/>
              <a:t>09.05.2023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86CBAD-F8B3-E3EF-2565-C3C807B36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48670E-41C8-1614-BD1A-FF984D87A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CE12C-B350-4327-A958-079249042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5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mgafk.ru/arkadiy_nikitich_vorobev?ysclid=lhgenb0v4t447418354" TargetMode="External"/><Relationship Id="rId13" Type="http://schemas.openxmlformats.org/officeDocument/2006/relationships/hyperlink" Target="http://podvignaroda.ru/?#id=32785746&amp;tab=navDetailManAward" TargetMode="External"/><Relationship Id="rId3" Type="http://schemas.openxmlformats.org/officeDocument/2006/relationships/hyperlink" Target="https://topwar.ru/141067-geroicheskaya-i-tragicheskaya-bitva-za-dnepr.html?ysclid=lhgcmd9qrl286264963" TargetMode="External"/><Relationship Id="rId7" Type="http://schemas.openxmlformats.org/officeDocument/2006/relationships/hyperlink" Target="https://dzen.ru/a/XeYTujY55gCxyCgJ" TargetMode="External"/><Relationship Id="rId12" Type="http://schemas.openxmlformats.org/officeDocument/2006/relationships/hyperlink" Target="https://www.peoplelife.ru/210329?ysclid=lhgfy9zv4e958457182" TargetMode="External"/><Relationship Id="rId2" Type="http://schemas.openxmlformats.org/officeDocument/2006/relationships/hyperlink" Target="https://ru.wikipedia.org/wiki/%D0%91%D0%B8%D1%82%D0%B2%D0%B0_%D0%B7%D0%B0_%D0%94%D0%BD%D0%B5%D0%BF%D1%8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92%D0%BE%D1%80%D0%BE%D0%B1%D1%8C%D1%91%D0%B2,_%D0%90%D1%80%D0%BA%D0%B0%D0%B4%D0%B8%D0%B9_%D0%9D%D0%B8%D0%BA%D0%B8%D1%82%D0%B8%D1%87" TargetMode="External"/><Relationship Id="rId11" Type="http://schemas.openxmlformats.org/officeDocument/2006/relationships/hyperlink" Target="https://www.championat.com/football/article-3078255-iz-lejtenantov-v-generaly.html?ysclid=lhgfyc2scy845159608" TargetMode="External"/><Relationship Id="rId5" Type="http://schemas.openxmlformats.org/officeDocument/2006/relationships/hyperlink" Target="https://histrf.ru/read/articles/bitva-za-dniepr-fakty-i-domysly?ysclid=lhgco36bc7142384284" TargetMode="External"/><Relationship Id="rId10" Type="http://schemas.openxmlformats.org/officeDocument/2006/relationships/hyperlink" Target="https://ru.wikipedia.org/wiki/%D0%9D%D1%8B%D1%80%D0%BA%D0%BE%D0%B2,_%D0%AE%D1%80%D0%B8%D0%B9_%D0%90%D0%BB%D0%B5%D0%BA%D1%81%D0%B0%D0%BD%D0%B4%D1%80%D0%BE%D0%B2%D0%B8%D1%87" TargetMode="External"/><Relationship Id="rId4" Type="http://schemas.openxmlformats.org/officeDocument/2006/relationships/hyperlink" Target="https://istoriyakratko.ru/sssr/velikaya-otechestvennaya-vojna/bitva-za-dnepr-1943-g.html?ysclid=lhgcox3shz471126583" TargetMode="External"/><Relationship Id="rId9" Type="http://schemas.openxmlformats.org/officeDocument/2006/relationships/hyperlink" Target="https://fb.ru/article/216751/arkadiy-vorobev-biografiya-sportivnyie-dostijeniya-foto?ysclid=lhgend8mij650858442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84546-9D1B-9EB4-DE14-3FEADF3CA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02365"/>
          </a:xfrm>
        </p:spPr>
        <p:txBody>
          <a:bodyPr>
            <a:no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Российский химико-технологический университет имени Д.И. Менделеева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физического воспитания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срока давности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02CBB5-86B3-E921-25F0-836DA4910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8782"/>
            <a:ext cx="9144000" cy="1412696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Мосолова Виктория Георгиевна Кс-24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</a:t>
            </a:r>
            <a:r>
              <a:rPr lang="ru-RU" dirty="0">
                <a:effectLst/>
                <a:latin typeface="Times New Roman" panose="02020603050405020304" pitchFamily="18" charset="0"/>
              </a:rPr>
              <a:t>Щербинина Валерия Дмитриевна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2023 г.</a:t>
            </a:r>
          </a:p>
        </p:txBody>
      </p:sp>
    </p:spTree>
    <p:extLst>
      <p:ext uri="{BB962C8B-B14F-4D97-AF65-F5344CB8AC3E}">
        <p14:creationId xmlns:p14="http://schemas.microsoft.com/office/powerpoint/2010/main" val="3635833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604E3-836F-E97B-67F9-F2D826C9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F8CF02-374A-FC43-F56C-664D650D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Битва за Днепр (август-декабрь 1943 г.), стр. 3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Воробьев Аркадий Никитич (тяжелая атлетика), стр. 9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Нырков Юрий Александрович (футбол), стр. 19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Мосолов Алексей Федорович, стр. 25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литературы, стр. 26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609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4DFCD1D-4883-06C4-9CDE-A0A15081F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49" y="0"/>
            <a:ext cx="121988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AA75F64-C07D-4FB0-8547-23CFC6E5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032" y="303088"/>
            <a:ext cx="4935876" cy="1042827"/>
          </a:xfrm>
          <a:solidFill>
            <a:srgbClr val="000000">
              <a:alpha val="80000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Битва за Днепр – одно из крупнейших сражений Великой Отечественной войны.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ВОВ: август-декабрь 1943 г.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135E9EE-F2F5-043E-C959-0D954B75D1FD}"/>
              </a:ext>
            </a:extLst>
          </p:cNvPr>
          <p:cNvSpPr txBox="1">
            <a:spLocks/>
          </p:cNvSpPr>
          <p:nvPr/>
        </p:nvSpPr>
        <p:spPr>
          <a:xfrm>
            <a:off x="7006120" y="5253520"/>
            <a:ext cx="4935876" cy="1419546"/>
          </a:xfrm>
          <a:prstGeom prst="rect">
            <a:avLst/>
          </a:prstGeom>
          <a:solidFill>
            <a:srgbClr val="000000">
              <a:alpha val="8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 знаменитых командующих в битве за Днепр: Иван Конев (2-й Украинский фронт), Константин Рокоссовский (Белорусский фронт), Николай Ватутин (1-й Украинский). На начало сражения все трое — генералы армии.</a:t>
            </a:r>
          </a:p>
        </p:txBody>
      </p:sp>
    </p:spTree>
    <p:extLst>
      <p:ext uri="{BB962C8B-B14F-4D97-AF65-F5344CB8AC3E}">
        <p14:creationId xmlns:p14="http://schemas.microsoft.com/office/powerpoint/2010/main" val="410031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1DD2975-B2C6-C2A7-0CE3-C7D30919D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41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501FE52-C439-A776-D76C-DE5F9E6B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08" y="4592547"/>
            <a:ext cx="10515600" cy="1972639"/>
          </a:xfrm>
          <a:solidFill>
            <a:srgbClr val="FFFFFF">
              <a:alpha val="90980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проходило событие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Советские войска начали наступление на Днепр 26 августа 1943 года.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Бой проходил на протяжении 4 месяцев и закончился победой Советской армии.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Итогом битвы стало освобождение большой территории Украины от немецко-фашистских захватчиков, а также создание благоприятных условий для дальнейшей операции освобождения Крыма и освобождения Украины.</a:t>
            </a:r>
          </a:p>
        </p:txBody>
      </p:sp>
    </p:spTree>
    <p:extLst>
      <p:ext uri="{BB962C8B-B14F-4D97-AF65-F5344CB8AC3E}">
        <p14:creationId xmlns:p14="http://schemas.microsoft.com/office/powerpoint/2010/main" val="68770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3C4F3-5440-9268-FA23-5F8FDDD9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709" y="2857110"/>
            <a:ext cx="10515600" cy="1325563"/>
          </a:xfrm>
        </p:spPr>
        <p:txBody>
          <a:bodyPr>
            <a:normAutofit/>
          </a:bodyPr>
          <a:lstStyle/>
          <a:p>
            <a:r>
              <a:rPr 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битвы за Днепр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62A4A9-1CFC-68A7-64EE-18DEC99171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992" y="299912"/>
            <a:ext cx="7155509" cy="643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640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98F1E9D-3097-E0E3-8E64-40DC2BFBE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92481"/>
            <a:ext cx="12192000" cy="803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E2C1E-05A7-29CB-4046-815E6D5E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99" y="87723"/>
            <a:ext cx="8352034" cy="315912"/>
          </a:xfrm>
          <a:solidFill>
            <a:srgbClr val="FFFFFF">
              <a:alpha val="89804"/>
            </a:srgbClr>
          </a:solidFill>
        </p:spPr>
        <p:txBody>
          <a:bodyPr>
            <a:normAutofit fontScale="90000"/>
          </a:bodyPr>
          <a:lstStyle/>
          <a:p>
            <a:r>
              <a:rPr lang="ru-RU" sz="18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Роль битвы за Днепр в ходе Великой Отечественной войны</a:t>
            </a:r>
            <a:endParaRPr lang="ru-RU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31598E-E54B-2CEE-A4AD-7D973DC54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299" y="403634"/>
            <a:ext cx="8352034" cy="1445714"/>
          </a:xfrm>
          <a:solidFill>
            <a:srgbClr val="FFFFFF">
              <a:alpha val="89804"/>
            </a:srgb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битвы за Днепр заключалась в том, что она стала поворотным моментом в ходе войны. Советские войска сумели преодолеть реку Днепр и прорвать оборону немецко-фашистских войск, которые удерживали позиции на берегах реки. Битва за Днепр привела к освобождению большой территории Украины и созданию благоприятных условий для дальнейшей операции освобождения Крыма и освобождения Украины.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87176BE-497C-7170-ED7F-AC3D5BF72B65}"/>
              </a:ext>
            </a:extLst>
          </p:cNvPr>
          <p:cNvSpPr txBox="1">
            <a:spLocks/>
          </p:cNvSpPr>
          <p:nvPr/>
        </p:nvSpPr>
        <p:spPr>
          <a:xfrm>
            <a:off x="1797977" y="5822860"/>
            <a:ext cx="10170559" cy="809109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того, битва за Днепр стала одним из ключевых сражений, которое позволило Советской армии получить ценный опыт для дальнейших операций в ходе войны. В битве за Днепр использовались новые тактики и технологии, которые впоследствии были использованы в других операциях.</a:t>
            </a:r>
          </a:p>
        </p:txBody>
      </p:sp>
    </p:spTree>
    <p:extLst>
      <p:ext uri="{BB962C8B-B14F-4D97-AF65-F5344CB8AC3E}">
        <p14:creationId xmlns:p14="http://schemas.microsoft.com/office/powerpoint/2010/main" val="118502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FD444-C673-616C-9225-77FBFCE1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767"/>
            <a:ext cx="10515600" cy="456808"/>
          </a:xfrm>
        </p:spPr>
        <p:txBody>
          <a:bodyPr>
            <a:normAutofit/>
          </a:bodyPr>
          <a:lstStyle/>
          <a:p>
            <a:r>
              <a:rPr 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 битвы за Днепр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A19BCF-7877-C424-FAED-EBE9E53B5B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650" y="556767"/>
            <a:ext cx="652552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5C538-F783-D62B-5837-28678F93D671}"/>
              </a:ext>
            </a:extLst>
          </p:cNvPr>
          <p:cNvSpPr txBox="1"/>
          <p:nvPr/>
        </p:nvSpPr>
        <p:spPr>
          <a:xfrm flipH="1">
            <a:off x="838200" y="1284269"/>
            <a:ext cx="3745445" cy="3693319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Битва за Днепр привела к сокрушительным потерям среди немецких войск, которые не смогли удержать оборону на берегах Днепра.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Она также привела к значительным потерям среди советских войск, но позволила Советской армии освободить значительную территорию Украины и создать благоприятные условия для дальнейшего наступления на Германию.</a:t>
            </a:r>
          </a:p>
        </p:txBody>
      </p:sp>
    </p:spTree>
    <p:extLst>
      <p:ext uri="{BB962C8B-B14F-4D97-AF65-F5344CB8AC3E}">
        <p14:creationId xmlns:p14="http://schemas.microsoft.com/office/powerpoint/2010/main" val="138196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855F7E-960E-4899-1235-1507A2FA0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93851"/>
            <a:ext cx="12192000" cy="801014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AF0B3-66C5-A173-033F-E33B404F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799"/>
          </a:xfrm>
          <a:noFill/>
        </p:spPr>
        <p:txBody>
          <a:bodyPr>
            <a:normAutofit/>
          </a:bodyPr>
          <a:lstStyle/>
          <a:p>
            <a:r>
              <a:rPr 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Историческая роль битвы за Днепр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D4970C-3874-3465-C1E5-114EB970E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36588"/>
            <a:ext cx="10515600" cy="2221412"/>
          </a:xfrm>
          <a:solidFill>
            <a:srgbClr val="FFFFFF">
              <a:alpha val="80000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Битва за Днепр имела огромную историческую роль в ходе Великой Отечественной войны. Битва за Днепр показала высокий уровень организации и координации советских войск, а также привела к значительным потерям среди немецких войск. Это событие также стало важным сигналом для Советского руководства о том, что немецко-фашистская армия не является непобедимой.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целом, битва за Днепр стала ярким примером мужества и героизма советских солдат и офицеров в ходе Великой Отечественной войны и останется в истории как одно из ключевых сражений, которое принесло победу над немецко-фашистскими захватчиками и помогло сохранить независимость и свободу Советского Союза.</a:t>
            </a:r>
          </a:p>
        </p:txBody>
      </p:sp>
    </p:spTree>
    <p:extLst>
      <p:ext uri="{BB962C8B-B14F-4D97-AF65-F5344CB8AC3E}">
        <p14:creationId xmlns:p14="http://schemas.microsoft.com/office/powerpoint/2010/main" val="2334510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711EF15-1506-74E2-9EC6-C6C39B86A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4328"/>
            <a:ext cx="5721849" cy="545263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Аркадий Воробьев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советский тяжелоатлет, который заслуженно занял место в истории советского и мирового спорта.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был известен своими впечатляющими достижениями в тяжелой атлетике и является одним из лучших спортсменов своего времени.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Воробьев начал свою карьеру в 1958 году, и уже через несколько лет стал одним из лучших тяжелоатлетов СССР.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являлся двукратным олимпийским чемпионом, а также победителем многих других международных соревнований.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5B07999-AF48-D383-E6F5-0376D3F80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458" y="539980"/>
            <a:ext cx="3764195" cy="577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45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4946B65-69F6-C547-F063-A42D592AE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38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1942 году Аркадий был призван в действующую армию. Окончив школу водолазов в Геленджике, попадает в подразделение морской пехоты Черноморского флота. За бои в устье реки Дунай получает свою первую боевую награду, медаль «За отвагу».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Аркадий Воробьев. Фронтовик, спортсмен, Олимпийский чемпион.">
            <a:extLst>
              <a:ext uri="{FF2B5EF4-FFF2-40B4-BE49-F238E27FC236}">
                <a16:creationId xmlns:a16="http://schemas.microsoft.com/office/drawing/2014/main" id="{7F5E2432-14FF-4C75-4FC1-38844996C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085" y="0"/>
            <a:ext cx="5512083" cy="687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748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B068F87-14C2-0A3C-8924-F883E6DE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499" y="469436"/>
            <a:ext cx="90095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1950 году на соревнованиях в Харькове с мировым рекордом в рывке Аркадий Воробьев становится Чемпионом СССР и входит в сборную Союза.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Аркадий Воробьев. Фронтовик, спортсмен, Олимпийский чемпион.">
            <a:extLst>
              <a:ext uri="{FF2B5EF4-FFF2-40B4-BE49-F238E27FC236}">
                <a16:creationId xmlns:a16="http://schemas.microsoft.com/office/drawing/2014/main" id="{05D78FEF-DD58-E8A3-D49F-94F81B9A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663" y="1181781"/>
            <a:ext cx="8307511" cy="549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272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554823B-D3B0-11FB-7480-E402B1B1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492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1960 году Аркадий Воробьев повторяет свой успех и становится Олимпийским чемпионом на играх в Риме</a:t>
            </a:r>
          </a:p>
        </p:txBody>
      </p:sp>
      <p:pic>
        <p:nvPicPr>
          <p:cNvPr id="10242" name="Picture 2" descr="Аркадий Воробьев. Фронтовик, спортсмен, Олимпийский чемпион.">
            <a:extLst>
              <a:ext uri="{FF2B5EF4-FFF2-40B4-BE49-F238E27FC236}">
                <a16:creationId xmlns:a16="http://schemas.microsoft.com/office/drawing/2014/main" id="{ED0F875F-42F8-E1FD-78F7-6DE75BC3D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523" y="452277"/>
            <a:ext cx="5943600" cy="621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49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5313D0F-E72C-1EAF-A541-21FD2ACC9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91" y="1193764"/>
            <a:ext cx="5572874" cy="4351338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Всего за свою спортивную карьеру фронтовик, морпех Черноморского флота добился потрясающих результатов: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Олимпийский чемпион (1956, 1960) в полутяжелом весе, 3-й призер Олимпийских игр (1952) в среднем весе.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Чемпион мира (1953-55, 1957, 1958) в среднем весе, 2-й призер чемпионата мира (1950, 1959) в среднем весе, 3-й призер чемпионата мира (1961).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Чемпион Европы (1950, 1953-55, 1958) в среднем весе, 2-й призер чемпионата Европы (1959), 3-й призер чемпионата Европы (1961).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Чемпион СССР (1950, 1951, 1952 — в среднем весе; 1953-59 — в полутяжелом весе).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Установил 21 мировой рекорд и 37 рекордов СССР.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1266" name="Picture 2" descr="аркадий воробьев фото">
            <a:extLst>
              <a:ext uri="{FF2B5EF4-FFF2-40B4-BE49-F238E27FC236}">
                <a16:creationId xmlns:a16="http://schemas.microsoft.com/office/drawing/2014/main" id="{620F1390-6EE1-3FFD-B58D-551C59D08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605" y="542924"/>
            <a:ext cx="4255856" cy="587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091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285F9ED-8F15-400E-67B2-F323D8F5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53" y="428339"/>
            <a:ext cx="112955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1971 году А.Н. Воробьев возвращается в Государственный центральный ордена Ленина институт физической культуры на должность заведующего, основанной им несколько лет назад, кафедрой тяжелой атлетики.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 ">
            <a:extLst>
              <a:ext uri="{FF2B5EF4-FFF2-40B4-BE49-F238E27FC236}">
                <a16:creationId xmlns:a16="http://schemas.microsoft.com/office/drawing/2014/main" id="{A15F3C77-9AFE-B59E-9F89-59E7E0661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91" y="1388782"/>
            <a:ext cx="7428215" cy="48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809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B176A9A-944F-C9D5-261D-17918FA25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966" y="2947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1977 году на базе филиала Смоленского ГИФК в п. Малаховка был образован Московский областной государственный институт физической культуры, его ректором назначается Аркадий Никитич Воробьев.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 ">
            <a:extLst>
              <a:ext uri="{FF2B5EF4-FFF2-40B4-BE49-F238E27FC236}">
                <a16:creationId xmlns:a16="http://schemas.microsoft.com/office/drawing/2014/main" id="{FAA2FEFA-53FF-2EAB-BAE9-25DDD80AA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063" y="1231326"/>
            <a:ext cx="8399873" cy="527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697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B9D2C9E-7E20-F423-81DF-0A847A717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21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 его руководством более 50-ти человек стали кандидатами и докторами наук в области физического воспитания и спортивной медицины.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CFBD462C-2849-5D1E-FBCE-2FDCE788E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422" y="-26039"/>
            <a:ext cx="5259406" cy="688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69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A10A3C5-8E9C-EB89-D3BC-E7B3859E6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62337"/>
            <a:ext cx="4401620" cy="5714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 книг: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«Современная тренировка тяжелоатлета»,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«Тяжелоатлетический спорт»,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«На трех Олимпиадах» (1963),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«Сильные мира сего» (1972),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«Железная игра» (1980),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«Анатомия силы» (…, 1987 — соавтор),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учебника «Тяжелая атлетика» для спортивных вузов,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многочисленных научных публикаций,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более 200 газетных и журнальных материалов,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5-ти монографий, 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3-х художественных произведений.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BAFAF72-C89D-BC0F-1812-C8CABDD0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519" y="0"/>
            <a:ext cx="5137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242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E12237C-D2BE-449A-C164-DD29D20F4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576"/>
            <a:ext cx="4843409" cy="280998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Выдающий тяжелоатлет, тренер, педагог, основатель собственной научной школы Аркадий Никитич Воробьев ушел из жизни 22 декабря 2012 года на 89 году жизни. </a:t>
            </a:r>
            <a:endParaRPr lang="en-US" sz="1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Светлая память о великом спортсмене, ученом, педагоге навсегда останется в наших сердцах.</a:t>
            </a:r>
          </a:p>
          <a:p>
            <a:pPr marL="0" indent="0">
              <a:buNone/>
            </a:pP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Аркадий Воробьев. Фронтовик, спортсмен, Олимпийский чемпион.">
            <a:extLst>
              <a:ext uri="{FF2B5EF4-FFF2-40B4-BE49-F238E27FC236}">
                <a16:creationId xmlns:a16="http://schemas.microsoft.com/office/drawing/2014/main" id="{66CEC7DD-8A18-569F-35D7-83F06AEE4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431" y="0"/>
            <a:ext cx="4564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70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1933A2F-609A-DD5B-D641-E001A724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829"/>
            <a:ext cx="4951288" cy="558913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Юрий Александрович Нырков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(29 июня 1924, Вышний Волочёк, Тверская губерния, РСФСР, СССР — 20 декабря 2005, Москва, Россия) — советский футболист, защитник. За сборную СССР на Олимпийских играх в Хельсинки в 1952 году сыграл 3 матча. Заслуженный мастер спорта СССР (1985). Генерал-майор.</a:t>
            </a:r>
          </a:p>
          <a:p>
            <a:pPr marL="0" indent="0" algn="l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Кавалер орденов Отечественной войны I степени (дважды) и II степени, ордена Красной Звезды, «За службу Родине в Вооруженных сил СССР» III степени и ордена Дружбы.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D19E6C83-0578-B14C-5616-7F564CE85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514" y="95250"/>
            <a:ext cx="474345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55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C9C0810-DECC-5C86-0B3C-C8207A7A5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813" y="564019"/>
            <a:ext cx="4425044" cy="598918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 1936 года Александр Нырков работал прорабом на строительстве </a:t>
            </a:r>
            <a:r>
              <a:rPr lang="ru-RU" sz="18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Софринского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полигона.</a:t>
            </a:r>
          </a:p>
          <a:p>
            <a:pPr marL="0" indent="0" algn="l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1936 году Юрий был принят в состав детской команды пионеров, выступавшей в то время на стадионе «Динамо». Нырков принимал участие в первом международном матче против команды детей, эвакуированных из Испании из-за разразившейся там Гражданской войны. </a:t>
            </a:r>
            <a:endParaRPr lang="en-US" sz="1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Юрия выиграла, за победу над испанцами нарком финансов СССР Влас </a:t>
            </a:r>
            <a:r>
              <a:rPr lang="ru-RU" sz="18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Чубарь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вручил каждому футболисту, принявшему участие в этой игре карманные часы с памятной гравировкой. В одной команде с Юрием Нырковым выступал в будущем известный хоккейный тренер Анатолий Кострюков. </a:t>
            </a:r>
            <a:endParaRPr lang="ru-RU" sz="1800" dirty="0"/>
          </a:p>
        </p:txBody>
      </p:sp>
      <p:pic>
        <p:nvPicPr>
          <p:cNvPr id="18438" name="Picture 6">
            <a:extLst>
              <a:ext uri="{FF2B5EF4-FFF2-40B4-BE49-F238E27FC236}">
                <a16:creationId xmlns:a16="http://schemas.microsoft.com/office/drawing/2014/main" id="{16385A90-5E15-4DFD-345D-B3E0DED18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611" y="774476"/>
            <a:ext cx="6973433" cy="471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598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AE65390-65FE-13DA-BA41-6325D0517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14" y="932543"/>
            <a:ext cx="4238172" cy="4992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 июня 1941 года началась Великая Отечественная война. Уже через 8 дней после начала войны, 30 июня, Юрий Нырков по комсомольской путевке был отправлен на строительство оборонительных сооружений под городом Вязьмой.</a:t>
            </a:r>
            <a:endParaRPr lang="en-US" sz="1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январе 1945 года Юрий Нырков в составе полка участвовал в операции в районе </a:t>
            </a:r>
            <a:r>
              <a:rPr lang="ru-RU" sz="18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Кюстрина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которой территорию занятую немецкими войсками осветили множеством мощных прожекторов. После этой операции полк с боями подошёл к Берлину. Войну Юрий закончил 11 мая 1945 года на улице Шпандау-аллее в центре Берлина в звании младшего лейтенанта.</a:t>
            </a: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85366DD1-FA3F-F4E6-F7EC-8689A9B48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788421"/>
            <a:ext cx="6667500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004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0F14D3-CA9E-F4A5-0D16-905AF8E4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20" y="0"/>
            <a:ext cx="103098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72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Юрий Нырков из «команды лейтенантов». Часть 1. «Василий Сталин меня терпеть не мог. Антипатия».">
            <a:extLst>
              <a:ext uri="{FF2B5EF4-FFF2-40B4-BE49-F238E27FC236}">
                <a16:creationId xmlns:a16="http://schemas.microsoft.com/office/drawing/2014/main" id="{2A9FFBBB-4D66-97AE-18E5-EF5ABFC436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8077"/>
            <a:ext cx="9064171" cy="684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284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1AB0470-AFF8-EB78-8548-7F4ED03BA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86" y="365125"/>
            <a:ext cx="5932714" cy="5811838"/>
          </a:xfrm>
        </p:spPr>
        <p:txBody>
          <a:bodyPr/>
          <a:lstStyle/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Нырков был настоящим героем своего времени, и его имя стало символом мастерства и выдающихся достижений в российском футболе.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Его успехи в спорте будут вечно жить в сердцах людей, и он останется незабываемой личностью в истории России и мирового футбола.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2163EC24-D457-1C1E-27EC-9A4A3D892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22" y="365125"/>
            <a:ext cx="43815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519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4440C-FCA3-EFEA-73BA-ADBD401F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355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Мосолов Алексей Федорович 1915г.р.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822EEE-54FE-3B6B-6968-72AD4382E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807"/>
            <a:ext cx="9290050" cy="194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Звание: красноармеец</a:t>
            </a:r>
            <a:b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РККА с 15.12.1941 года Место призыва: Пестречинский РВК, Татарская АССР, Пестречинский р-н</a:t>
            </a:r>
            <a:b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Место службы: 33 </a:t>
            </a:r>
            <a:r>
              <a:rPr lang="ru-RU" sz="18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омибр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344 </a:t>
            </a:r>
            <a:r>
              <a:rPr lang="ru-RU" sz="18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сд</a:t>
            </a:r>
            <a:b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Дата подвига: 23.06.1944</a:t>
            </a:r>
            <a:endParaRPr lang="en-US" sz="1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7C9898-634E-838F-A17F-6E307CAFE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425" y="365126"/>
            <a:ext cx="1597826" cy="2580130"/>
          </a:xfrm>
          <a:prstGeom prst="rect">
            <a:avLst/>
          </a:prstGeom>
        </p:spPr>
      </p:pic>
      <p:pic>
        <p:nvPicPr>
          <p:cNvPr id="23554" name="Picture 2">
            <a:extLst>
              <a:ext uri="{FF2B5EF4-FFF2-40B4-BE49-F238E27FC236}">
                <a16:creationId xmlns:a16="http://schemas.microsoft.com/office/drawing/2014/main" id="{361448D6-5E12-6F66-3B1A-6E569FA3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3199056"/>
            <a:ext cx="10515600" cy="346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83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D39C9-CF45-85FE-F46E-FDD82D75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используемой литературы и 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ресурсов: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8146B-FCF9-5972-3D54-CA833652F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350"/>
            <a:ext cx="10515600" cy="507414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https://ru.wikipedia.org/wiki/%D0%91%D0%B8%D1%82%D0%B2%D0%B0_%D0%B7%D0%B0_%D0%94%D0%BD%D0%B5%D0%BF%D1%80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https://topwar.ru/141067-geroicheskaya-i-tragicheskaya-bitva-za-dnepr.html?ysclid=lhgcmd9qrl286264963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https://istoriyakratko.ru/sssr/velikaya-otechestvennaya-vojna/bitva-za-dnepr-1943-g.html?ysclid=lhgcox3shz471126583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https://histrf.ru/read/articles/bitva-za-dniepr-fakty-i-domysly?ysclid=lhgco36bc7142384284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https://ru.wikipedia.org/wiki/%D0%92%D0%BE%D1%80%D0%BE%D0%B1%D1%8C%D1%91%D0%B2,_%D0%90%D1%80%D0%BA%D0%B0%D0%B4%D0%B8%D0%B9_%D0%9D%D0%B8%D0%BA%D0%B8%D1%82%D0%B8%D1%87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https://dzen.ru/a/XeYTujY55gCxyCgJ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https://mgafk.ru/arkadiy_nikitich_vorobev?ysclid=lhgenb0v4t447418354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https://fb.ru/article/216751/arkadiy-vorobev-biografiya-sportivnyie-dostijeniya-foto?ysclid=lhgend8mij650858442</a:t>
            </a: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https://ru.wikipedia.org/wiki/%D0%9D%D1%8B%D1%80%D0%BA%D0%BE%D0%B2,_%D0%AE%D1%80%D0%B8%D0%B9_%D0%90%D0%BB%D0%B5%D0%BA%D1%81%D0%B0%D0%BD%D0%B4%D1%80%D0%BE%D0%B2%D0%B8%D1%87</a:t>
            </a: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https://www.championat.com/football/article-3078255-iz-lejtenantov-v-generaly.html?ysclid=lhgfyc2scy845159608</a:t>
            </a: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https://www.peoplelife.ru/210329?ysclid=lhgfy9zv4e958457182</a:t>
            </a: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http://podvignaroda.ru/?#id=32785746&amp;tab=navDetailManAward</a:t>
            </a: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49790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96359-C5A1-3C98-79F9-999F25E8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35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570540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1631</Words>
  <Application>Microsoft Office PowerPoint</Application>
  <PresentationFormat>Широкоэкранный</PresentationFormat>
  <Paragraphs>87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Тема Office</vt:lpstr>
      <vt:lpstr>Российский химико-технологический университет имени Д.И. Менделеева  Кафедра физического воспитания    Без срока давности</vt:lpstr>
      <vt:lpstr>Содержание</vt:lpstr>
      <vt:lpstr>Презентация PowerPoint</vt:lpstr>
      <vt:lpstr>Презентация PowerPoint</vt:lpstr>
      <vt:lpstr>Схема битвы за Днепр</vt:lpstr>
      <vt:lpstr>Роль битвы за Днепр в ходе Великой Отечественной войны</vt:lpstr>
      <vt:lpstr>Последствия битвы за Днепр</vt:lpstr>
      <vt:lpstr>Историческая роль битвы за Днепр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Мосолов Алексей Федорович 1915г.р.</vt:lpstr>
      <vt:lpstr>Список используемой литературы и интернет ресурсов: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химико-технологический университет имени Д.И. Менделеева  Кафедра физического воспитания   Без срока давности</dc:title>
  <dc:creator>Viktoriya Mosolova</dc:creator>
  <cp:lastModifiedBy>Viktoriya Mosolova</cp:lastModifiedBy>
  <cp:revision>16</cp:revision>
  <dcterms:created xsi:type="dcterms:W3CDTF">2023-05-09T14:12:58Z</dcterms:created>
  <dcterms:modified xsi:type="dcterms:W3CDTF">2023-05-09T16:52:57Z</dcterms:modified>
</cp:coreProperties>
</file>